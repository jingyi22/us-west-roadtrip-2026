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4"/>
  </p:handoutMasterIdLst>
  <p:sldIdLst>
    <p:sldId id="274" r:id="rId3"/>
    <p:sldId id="256" r:id="rId4"/>
    <p:sldId id="264" r:id="rId5"/>
    <p:sldId id="267" r:id="rId6"/>
    <p:sldId id="269" r:id="rId7"/>
    <p:sldId id="259" r:id="rId8"/>
    <p:sldId id="270" r:id="rId9"/>
    <p:sldId id="262" r:id="rId10"/>
    <p:sldId id="265" r:id="rId11"/>
    <p:sldId id="275" r:id="rId13"/>
  </p:sldIdLst>
  <p:sldSz cx="12192000" cy="685673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899" y="273050"/>
            <a:ext cx="7589520" cy="368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1F2937"/>
                </a:solidFill>
                <a:latin typeface="Liberation Sans"/>
                <a:cs typeface="Liberation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499" y="2552699"/>
            <a:ext cx="11049000" cy="1530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0">
        <a:defRPr>
          <a:latin typeface="Arial" panose="020B0604020202020204" pitchFamily="34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12.png"/><Relationship Id="rId20" Type="http://schemas.openxmlformats.org/officeDocument/2006/relationships/image" Target="../media/image11.png"/><Relationship Id="rId2" Type="http://schemas.openxmlformats.org/officeDocument/2006/relationships/tags" Target="../tags/tag2.xml"/><Relationship Id="rId19" Type="http://schemas.openxmlformats.org/officeDocument/2006/relationships/image" Target="../media/image10.png"/><Relationship Id="rId18" Type="http://schemas.openxmlformats.org/officeDocument/2006/relationships/image" Target="../media/image9.png"/><Relationship Id="rId17" Type="http://schemas.openxmlformats.org/officeDocument/2006/relationships/image" Target="../media/image8.png"/><Relationship Id="rId16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5.png"/><Relationship Id="rId13" Type="http://schemas.openxmlformats.org/officeDocument/2006/relationships/image" Target="../media/image4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28.png"/><Relationship Id="rId6" Type="http://schemas.openxmlformats.org/officeDocument/2006/relationships/image" Target="../media/image33.png"/><Relationship Id="rId5" Type="http://schemas.openxmlformats.org/officeDocument/2006/relationships/image" Target="../media/image11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64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 userDrawn="1"/>
        </p:nvSpPr>
        <p:spPr>
          <a:xfrm>
            <a:off x="1422797" y="2327021"/>
            <a:ext cx="7048500" cy="147939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3600" b="1">
                <a:solidFill>
                  <a:schemeClr val="bg1"/>
                </a:solidFill>
              </a:rPr>
              <a:t>Trip.com and Competitors AI Chatbot Feedback Mechanism Comparison Analysis</a:t>
            </a:r>
            <a:endParaRPr lang="en-US" altLang="zh-CN" sz="3600" b="1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 userDrawn="1"/>
        </p:nvSpPr>
        <p:spPr>
          <a:xfrm>
            <a:off x="1541859" y="4874958"/>
            <a:ext cx="2143125" cy="713184"/>
          </a:xfrm>
          <a:prstGeom prst="rect">
            <a:avLst/>
          </a:prstGeom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1600" b="1">
                <a:solidFill>
                  <a:schemeClr val="bg1"/>
                </a:solidFill>
              </a:rPr>
              <a:t>July 30, 2025</a:t>
            </a:r>
            <a:endParaRPr lang="en-US" altLang="zh-CN" sz="1600" b="1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1600" b="1">
                <a:solidFill>
                  <a:schemeClr val="bg1"/>
                </a:solidFill>
              </a:rPr>
              <a:t>IBU CSC UXA</a:t>
            </a:r>
            <a:endParaRPr lang="zh-CN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/>
          <p:cNvSpPr/>
          <p:nvPr userDrawn="1"/>
        </p:nvSpPr>
        <p:spPr>
          <a:xfrm>
            <a:off x="5970443" y="4640407"/>
            <a:ext cx="5966114" cy="1913210"/>
          </a:xfrm>
          <a:prstGeom prst="rect">
            <a:avLst/>
          </a:prstGeom>
          <a:solidFill>
            <a:srgbClr val="F9F9F9">
              <a:alpha val="100000"/>
            </a:srgbClr>
          </a:solidFill>
          <a:ln w="12700" cap="flat" cmpd="sng" algn="ctr">
            <a:solidFill>
              <a:srgbClr val="DFDFDF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5" name="矩形 64"/>
          <p:cNvSpPr/>
          <p:nvPr userDrawn="1"/>
        </p:nvSpPr>
        <p:spPr>
          <a:xfrm>
            <a:off x="5970443" y="2644676"/>
            <a:ext cx="5966114" cy="1913210"/>
          </a:xfrm>
          <a:prstGeom prst="rect">
            <a:avLst/>
          </a:prstGeom>
          <a:solidFill>
            <a:srgbClr val="F9F9F9">
              <a:alpha val="100000"/>
            </a:srgbClr>
          </a:solidFill>
          <a:ln w="12700" cap="flat" cmpd="sng" algn="ctr">
            <a:solidFill>
              <a:srgbClr val="DFDFDF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0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9095" y="252507"/>
            <a:ext cx="9053095" cy="51332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AI</a:t>
            </a:r>
            <a:r>
              <a:rPr sz="2400" spc="-30" dirty="0"/>
              <a:t> </a:t>
            </a:r>
            <a:r>
              <a:rPr sz="2400" dirty="0"/>
              <a:t>Chatbot</a:t>
            </a:r>
            <a:r>
              <a:rPr sz="2400" spc="-15" dirty="0"/>
              <a:t> </a:t>
            </a:r>
            <a:r>
              <a:rPr sz="2400" dirty="0"/>
              <a:t>Feedback</a:t>
            </a:r>
            <a:r>
              <a:rPr sz="2400" spc="-20" dirty="0"/>
              <a:t> </a:t>
            </a:r>
            <a:r>
              <a:rPr sz="2400" dirty="0"/>
              <a:t>Mechanism</a:t>
            </a:r>
            <a:r>
              <a:rPr sz="2400" spc="-15" dirty="0"/>
              <a:t> </a:t>
            </a:r>
            <a:r>
              <a:rPr sz="2400" dirty="0"/>
              <a:t>Research</a:t>
            </a:r>
            <a:r>
              <a:rPr sz="2400" spc="-15" dirty="0"/>
              <a:t> </a:t>
            </a:r>
            <a:r>
              <a:rPr sz="2400" spc="-10" dirty="0"/>
              <a:t>Overview</a:t>
            </a:r>
            <a:endParaRPr sz="2400" spc="-10" dirty="0"/>
          </a:p>
        </p:txBody>
      </p:sp>
      <p:sp>
        <p:nvSpPr>
          <p:cNvPr id="5" name="object 5"/>
          <p:cNvSpPr/>
          <p:nvPr/>
        </p:nvSpPr>
        <p:spPr>
          <a:xfrm>
            <a:off x="312472" y="897919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380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38099" y="0"/>
                </a:lnTo>
                <a:lnTo>
                  <a:pt x="38099" y="2285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2432" y="2806354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380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38099" y="0"/>
                </a:lnTo>
                <a:lnTo>
                  <a:pt x="38099" y="2285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88608" y="5058256"/>
            <a:ext cx="4387028" cy="1163039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Wingdings" charset="0"/>
              <a:buChar char="•"/>
            </a:pP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200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11 tested</a:t>
            </a:r>
            <a:r>
              <a:rPr sz="1200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platforms have</a:t>
            </a:r>
            <a:r>
              <a:rPr sz="1200" spc="-7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feedback</a:t>
            </a:r>
            <a:r>
              <a:rPr sz="1200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mechanisms</a:t>
            </a:r>
            <a:endParaRPr sz="1200" spc="-1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Wingdings" charset="0"/>
              <a:buChar char="•"/>
            </a:pP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Automatic trigger</a:t>
            </a:r>
            <a:r>
              <a:rPr sz="1200" b="1" spc="37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is most </a:t>
            </a: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effective</a:t>
            </a:r>
            <a:endParaRPr sz="1200" spc="-1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Wingdings" charset="0"/>
              <a:buChar char="•"/>
            </a:pPr>
            <a:r>
              <a:rPr lang="en-US" altLang="zh-CN"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In-conversation</a:t>
            </a:r>
            <a:r>
              <a:rPr lang="en-US" altLang="zh-CN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provides best UX</a:t>
            </a:r>
            <a:endParaRPr lang="en-US" altLang="zh-CN" sz="12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Wingdings" charset="0"/>
              <a:buChar char="•"/>
            </a:pPr>
            <a:r>
              <a:rPr lang="en-US" altLang="zh-CN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Trip.com: comprehensive coverage, needs UX improvements</a:t>
            </a:r>
            <a:endParaRPr lang="en-US" altLang="zh-CN" sz="12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8608" y="3184144"/>
            <a:ext cx="5410024" cy="1018164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/>
          <a:p>
            <a:pPr marL="12700" marR="5080" indent="0">
              <a:lnSpc>
                <a:spcPct val="99000"/>
              </a:lnSpc>
              <a:spcBef>
                <a:spcPts val="600"/>
              </a:spcBef>
              <a:buNone/>
            </a:pPr>
            <a:r>
              <a:rPr sz="13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3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3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platforms </a:t>
            </a:r>
            <a:r>
              <a:rPr lang="en-US" altLang="zh-CN" sz="13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AI chatbot</a:t>
            </a:r>
            <a:r>
              <a:rPr sz="13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sz="1300" b="1" spc="-25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4150" marR="5080" indent="-171450">
              <a:lnSpc>
                <a:spcPct val="99000"/>
              </a:lnSpc>
              <a:spcBef>
                <a:spcPts val="600"/>
              </a:spcBef>
              <a:buChar char="•"/>
            </a:pPr>
            <a:r>
              <a:rPr lang="en-US" altLang="zh-CN" sz="1050" b="1" spc="-25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OTAs</a:t>
            </a:r>
            <a:r>
              <a:rPr lang="en-US" altLang="zh-CN" sz="1050" spc="-2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Trip.com,</a:t>
            </a:r>
            <a:r>
              <a:rPr sz="1050" spc="-6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Agoda,</a:t>
            </a:r>
            <a:r>
              <a:rPr sz="1050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Expedia,</a:t>
            </a:r>
            <a:r>
              <a:rPr sz="1050" spc="-6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Airbnb</a:t>
            </a:r>
            <a:endParaRPr sz="105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4150" marR="5080" indent="-171450">
              <a:lnSpc>
                <a:spcPct val="99000"/>
              </a:lnSpc>
              <a:spcBef>
                <a:spcPts val="600"/>
              </a:spcBef>
              <a:buChar char="•"/>
            </a:pPr>
            <a:r>
              <a:rPr lang="en-US" altLang="zh-CN" sz="105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Airlines</a:t>
            </a:r>
            <a:r>
              <a:rPr lang="en-US" altLang="zh-CN"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British</a:t>
            </a:r>
            <a:r>
              <a:rPr sz="1050" spc="-6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Airways,</a:t>
            </a:r>
            <a:r>
              <a:rPr sz="1050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</a:t>
            </a:r>
            <a:r>
              <a:rPr sz="1050" spc="-6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Airlines, </a:t>
            </a:r>
            <a:r>
              <a:rPr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Cathay</a:t>
            </a:r>
            <a:r>
              <a:rPr sz="1050" spc="-4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Pacific,</a:t>
            </a:r>
            <a:r>
              <a:rPr sz="1050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United</a:t>
            </a:r>
            <a:r>
              <a:rPr sz="1050" spc="-6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Airlines,</a:t>
            </a:r>
            <a:r>
              <a:rPr sz="1050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Lufthansa</a:t>
            </a:r>
            <a:endParaRPr sz="1050" spc="-15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4150" marR="5080" indent="-171450">
              <a:lnSpc>
                <a:spcPct val="99000"/>
              </a:lnSpc>
              <a:spcBef>
                <a:spcPts val="600"/>
              </a:spcBef>
              <a:buChar char="•"/>
            </a:pPr>
            <a:r>
              <a:rPr lang="en-US" altLang="zh-CN" sz="105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Hotel</a:t>
            </a:r>
            <a:r>
              <a:rPr lang="en-US" altLang="zh-CN"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Hilton</a:t>
            </a:r>
            <a:endParaRPr sz="1050" spc="-1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4150" marR="5080" indent="-171450">
              <a:lnSpc>
                <a:spcPct val="99000"/>
              </a:lnSpc>
              <a:spcBef>
                <a:spcPts val="600"/>
              </a:spcBef>
              <a:buChar char="•"/>
            </a:pPr>
            <a:r>
              <a:rPr lang="en-US" altLang="zh-CN" sz="105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E</a:t>
            </a:r>
            <a:r>
              <a:rPr lang="zh-CN" altLang="en-US" sz="105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CN" sz="105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commerce</a:t>
            </a:r>
            <a:r>
              <a:rPr lang="en-US" altLang="zh-CN"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</a:t>
            </a:r>
            <a:endParaRPr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83296" y="743617"/>
            <a:ext cx="324421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Feedback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Coverage</a:t>
            </a:r>
            <a:endParaRPr sz="1200" b="1" spc="-1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83296" y="2747490"/>
            <a:ext cx="284670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</a:t>
            </a:r>
            <a:r>
              <a:rPr sz="1200" b="1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Modes</a:t>
            </a:r>
            <a:r>
              <a:rPr sz="1200" b="1" spc="-4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endParaRPr sz="1200" b="1" spc="-1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37425" y="4640400"/>
            <a:ext cx="226377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Completion</a:t>
            </a:r>
            <a:r>
              <a:rPr sz="1200" b="1" spc="-8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endParaRPr sz="1200" b="1" spc="-1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25401" y="1041194"/>
            <a:ext cx="4688636" cy="578657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US" altLang="zh-CN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1000" b="1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omplete </a:t>
            </a:r>
            <a:r>
              <a:rPr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</a:t>
            </a:r>
            <a:r>
              <a:rPr lang="zh-CN" altLang="en-US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questionnaire/scale</a:t>
            </a:r>
            <a:r>
              <a:rPr lang="zh-CN" altLang="en-US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(7):</a:t>
            </a:r>
            <a:r>
              <a:rPr sz="1000" b="1" spc="-3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1000" b="1" spc="-30" dirty="0">
              <a:solidFill>
                <a:srgbClr val="4A54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Trip.com,</a:t>
            </a:r>
            <a:r>
              <a:rPr sz="900" spc="-5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Expedia,</a:t>
            </a:r>
            <a:r>
              <a:rPr sz="900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British</a:t>
            </a:r>
            <a:r>
              <a:rPr sz="900" spc="-55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Airways,</a:t>
            </a:r>
            <a:r>
              <a:rPr sz="900" spc="-5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</a:t>
            </a:r>
            <a:r>
              <a:rPr sz="900" spc="-6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Airlines,</a:t>
            </a:r>
            <a:r>
              <a:rPr sz="900" spc="-5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Cathay</a:t>
            </a:r>
            <a:r>
              <a:rPr sz="900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Pacific,</a:t>
            </a:r>
            <a:r>
              <a:rPr sz="900" spc="-5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United,</a:t>
            </a:r>
            <a:r>
              <a:rPr sz="900" spc="-55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Agoda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2432" y="85788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1400" b="1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Research Background</a:t>
            </a:r>
            <a:endParaRPr lang="en-US" altLang="en-US" sz="1400" b="1" dirty="0">
              <a:solidFill>
                <a:srgbClr val="37405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0" name="图片 29" descr="post_object_image_3845071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362" y="1086847"/>
            <a:ext cx="1603054" cy="1422428"/>
          </a:xfrm>
          <a:prstGeom prst="rect">
            <a:avLst/>
          </a:prstGeom>
        </p:spPr>
      </p:pic>
      <p:sp>
        <p:nvSpPr>
          <p:cNvPr id="31" name="object 12"/>
          <p:cNvSpPr txBox="1"/>
          <p:nvPr/>
        </p:nvSpPr>
        <p:spPr>
          <a:xfrm>
            <a:off x="388612" y="1126567"/>
            <a:ext cx="5200007" cy="690880"/>
          </a:xfrm>
          <a:prstGeom prst="rect">
            <a:avLst/>
          </a:prstGeom>
        </p:spPr>
        <p:txBody>
          <a:bodyPr vert="horz" wrap="square" lIns="0" tIns="78740" rIns="0" bIns="0" rtlCol="0">
            <a:noAutofit/>
          </a:bodyPr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b="1" dirty="0">
                <a:solidFill>
                  <a:srgbClr val="37405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Current </a:t>
            </a:r>
            <a:r>
              <a:rPr sz="1200" b="1" spc="-10" dirty="0">
                <a:solidFill>
                  <a:srgbClr val="37405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sz="12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19000"/>
              </a:lnSpc>
              <a:spcBef>
                <a:spcPts val="165"/>
              </a:spcBef>
            </a:pPr>
            <a:r>
              <a:rPr sz="1000" spc="-1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Trip.com's</a:t>
            </a:r>
            <a:r>
              <a:rPr sz="1000" spc="-65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sz="1000" spc="-2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chatbot </a:t>
            </a:r>
            <a:r>
              <a:rPr sz="1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lacks</a:t>
            </a:r>
            <a:r>
              <a:rPr sz="1000" b="1" spc="-10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proactive</a:t>
            </a:r>
            <a:r>
              <a:rPr sz="1000" b="1" spc="-15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sz="1000" b="1" spc="65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000" spc="-1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sz="1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less</a:t>
            </a:r>
            <a:r>
              <a:rPr sz="1000" b="1" spc="-15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sz="1000" b="1" spc="-10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1%</a:t>
            </a:r>
            <a:r>
              <a:rPr sz="1000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evaluation rate.</a:t>
            </a:r>
            <a:endParaRPr sz="10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bject 17"/>
          <p:cNvSpPr txBox="1"/>
          <p:nvPr/>
        </p:nvSpPr>
        <p:spPr>
          <a:xfrm>
            <a:off x="388612" y="1634830"/>
            <a:ext cx="4828540" cy="64960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b="1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</a:t>
            </a:r>
            <a:r>
              <a:rPr sz="1200" b="1" spc="-10" dirty="0">
                <a:solidFill>
                  <a:srgbClr val="374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19000"/>
              </a:lnSpc>
              <a:spcBef>
                <a:spcPts val="165"/>
              </a:spcBef>
            </a:pP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</a:t>
            </a:r>
            <a:r>
              <a:rPr sz="1000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sz="1000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leading</a:t>
            </a:r>
            <a:r>
              <a:rPr sz="1000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competitors</a:t>
            </a:r>
            <a:r>
              <a:rPr sz="1000" spc="-4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</a:t>
            </a:r>
            <a:r>
              <a:rPr sz="1000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sz="1000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sz="1000" spc="-4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mechanisms</a:t>
            </a:r>
            <a:r>
              <a:rPr sz="1000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-2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</a:t>
            </a:r>
            <a:r>
              <a:rPr sz="1000" spc="-2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1000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r>
              <a:rPr sz="1000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1000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000" spc="-3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Trip.com.</a:t>
            </a:r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50520" y="2766393"/>
            <a:ext cx="731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ts val="100"/>
              </a:spcBef>
            </a:pPr>
            <a:r>
              <a:rPr sz="14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Research </a:t>
            </a:r>
            <a:r>
              <a:rPr sz="14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Scope</a:t>
            </a:r>
            <a:endParaRPr lang="en-US" altLang="zh-CN" sz="1400" b="1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7" name="椭圆 36"/>
          <p:cNvSpPr/>
          <p:nvPr userDrawn="1"/>
        </p:nvSpPr>
        <p:spPr>
          <a:xfrm>
            <a:off x="7546397" y="1189707"/>
            <a:ext cx="119336" cy="119336"/>
          </a:xfrm>
          <a:prstGeom prst="ellipse">
            <a:avLst/>
          </a:prstGeom>
          <a:solidFill>
            <a:srgbClr val="3364FF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8" name="椭圆 37"/>
          <p:cNvSpPr/>
          <p:nvPr userDrawn="1"/>
        </p:nvSpPr>
        <p:spPr>
          <a:xfrm>
            <a:off x="7546409" y="1655109"/>
            <a:ext cx="119336" cy="119336"/>
          </a:xfrm>
          <a:prstGeom prst="ellipse">
            <a:avLst/>
          </a:prstGeom>
          <a:solidFill>
            <a:srgbClr val="FFE99A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9" name="椭圆 38"/>
          <p:cNvSpPr/>
          <p:nvPr userDrawn="1"/>
        </p:nvSpPr>
        <p:spPr>
          <a:xfrm>
            <a:off x="7546409" y="2118862"/>
            <a:ext cx="119336" cy="114463"/>
          </a:xfrm>
          <a:prstGeom prst="ellipse">
            <a:avLst/>
          </a:prstGeom>
          <a:solidFill>
            <a:srgbClr val="F46767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1" name="object 17"/>
          <p:cNvSpPr txBox="1"/>
          <p:nvPr/>
        </p:nvSpPr>
        <p:spPr>
          <a:xfrm>
            <a:off x="7725413" y="1471431"/>
            <a:ext cx="3741368" cy="653265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US" altLang="zh-CN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lang="en-US" altLang="zh-CN" sz="1000" b="1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</a:t>
            </a:r>
            <a:r>
              <a:rPr lang="zh-CN" altLang="en-US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thumb down/up only</a:t>
            </a:r>
            <a:r>
              <a:rPr lang="zh-CN" altLang="en-US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sz="1000" b="1" spc="-3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1000" b="1" spc="-30" dirty="0">
              <a:solidFill>
                <a:srgbClr val="4A54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US" altLang="zh-CN"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object 17"/>
          <p:cNvSpPr txBox="1"/>
          <p:nvPr/>
        </p:nvSpPr>
        <p:spPr>
          <a:xfrm>
            <a:off x="7725413" y="1939013"/>
            <a:ext cx="3741368" cy="623270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zh-CN" altLang="en-US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zh-CN" altLang="en-US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AI chatbot evaluation </a:t>
            </a:r>
            <a:r>
              <a:rPr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1000" b="1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sz="1000" b="1" spc="-3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1000" b="1" spc="-30" dirty="0">
              <a:solidFill>
                <a:srgbClr val="4A54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Airbnb,</a:t>
            </a:r>
            <a:r>
              <a:rPr sz="900" spc="5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Lufthansa,</a:t>
            </a:r>
            <a:r>
              <a:rPr sz="900" spc="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900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Hilton</a:t>
            </a:r>
            <a:endParaRPr lang="en-US" altLang="zh-CN" sz="900" dirty="0">
              <a:solidFill>
                <a:srgbClr val="4A5462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7" name="object 17"/>
          <p:cNvSpPr txBox="1"/>
          <p:nvPr/>
        </p:nvSpPr>
        <p:spPr>
          <a:xfrm>
            <a:off x="9322193" y="3035150"/>
            <a:ext cx="2315956" cy="398225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US" altLang="zh-CN"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Agoda, Expedia, United Airlines,</a:t>
            </a:r>
            <a:r>
              <a:rPr sz="900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British</a:t>
            </a:r>
            <a:r>
              <a:rPr sz="900" spc="-55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Airways, Cathay</a:t>
            </a:r>
            <a:r>
              <a:rPr sz="900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Pacific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object 17"/>
          <p:cNvSpPr txBox="1"/>
          <p:nvPr/>
        </p:nvSpPr>
        <p:spPr>
          <a:xfrm>
            <a:off x="9322164" y="3433363"/>
            <a:ext cx="2315956" cy="398225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US" altLang="zh-CN"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Agoda, United Airlines,</a:t>
            </a:r>
            <a:r>
              <a:rPr sz="900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900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Singapre Airlines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bject 17"/>
          <p:cNvSpPr txBox="1"/>
          <p:nvPr/>
        </p:nvSpPr>
        <p:spPr>
          <a:xfrm>
            <a:off x="9322220" y="3831577"/>
            <a:ext cx="2315956" cy="335074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rip.com, Expedia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bject 17"/>
          <p:cNvSpPr txBox="1"/>
          <p:nvPr/>
        </p:nvSpPr>
        <p:spPr>
          <a:xfrm>
            <a:off x="9322220" y="4222825"/>
            <a:ext cx="2315956" cy="335074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rip.com, </a:t>
            </a:r>
            <a:r>
              <a:rPr lang="en-US" altLang="zh-CN" sz="900" spc="-1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Singapre Airlines, Expedia, Amazon</a:t>
            </a:r>
            <a:endParaRPr lang="en-US" altLang="zh-CN" sz="900" spc="-10" dirty="0">
              <a:solidFill>
                <a:srgbClr val="4A5462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2" name="object 6"/>
          <p:cNvSpPr/>
          <p:nvPr/>
        </p:nvSpPr>
        <p:spPr>
          <a:xfrm>
            <a:off x="312432" y="4712070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380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38099" y="0"/>
                </a:lnTo>
                <a:lnTo>
                  <a:pt x="38099" y="2285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p/>
        </p:txBody>
      </p:sp>
      <p:sp>
        <p:nvSpPr>
          <p:cNvPr id="53" name="文本框 52"/>
          <p:cNvSpPr txBox="1"/>
          <p:nvPr/>
        </p:nvSpPr>
        <p:spPr>
          <a:xfrm>
            <a:off x="350520" y="4672108"/>
            <a:ext cx="731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ts val="100"/>
              </a:spcBef>
            </a:pPr>
            <a:r>
              <a:rPr lang="en-US" altLang="zh-CN" sz="14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Key Findings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55" name="直接连接符 54"/>
          <p:cNvCxnSpPr/>
          <p:nvPr userDrawn="1"/>
        </p:nvCxnSpPr>
        <p:spPr>
          <a:xfrm>
            <a:off x="5876003" y="743617"/>
            <a:ext cx="0" cy="5782310"/>
          </a:xfrm>
          <a:prstGeom prst="line">
            <a:avLst/>
          </a:prstGeom>
          <a:ln w="12700" cap="flat" cmpd="sng" algn="ctr">
            <a:solidFill>
              <a:srgbClr val="DFDFDF">
                <a:alpha val="10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 userDrawn="1"/>
        </p:nvSpPr>
        <p:spPr>
          <a:xfrm>
            <a:off x="5588607" y="4712069"/>
            <a:ext cx="348234" cy="459105"/>
          </a:xfrm>
          <a:prstGeom prst="rect">
            <a:avLst/>
          </a:prstGeom>
          <a:solidFill>
            <a:schemeClr val="bg1">
              <a:alpha val="100000"/>
            </a:schemeClr>
          </a:solidFill>
        </p:spPr>
        <p:txBody>
          <a:bodyPr wrap="square" rtlCol="0" anchor="ctr">
            <a:noAutofit/>
          </a:bodyPr>
          <a:p>
            <a:pPr algn="ctr"/>
            <a:r>
              <a:rPr lang="en-US" altLang="zh-CN" sz="2400" b="1">
                <a:solidFill>
                  <a:srgbClr val="3364FF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</a:rPr>
              <a:t>&gt;&gt;</a:t>
            </a:r>
            <a:endParaRPr lang="zh-CN" altLang="en-US" sz="2400" b="1">
              <a:solidFill>
                <a:srgbClr val="3364FF"/>
              </a:solidFill>
              <a:latin typeface="华文琥珀" panose="02010800040101010101" charset="-122"/>
              <a:ea typeface="华文琥珀" panose="02010800040101010101" charset="-122"/>
              <a:cs typeface="华文琥珀" panose="02010800040101010101" charset="-122"/>
            </a:endParaRPr>
          </a:p>
        </p:txBody>
      </p:sp>
      <p:sp>
        <p:nvSpPr>
          <p:cNvPr id="57" name="object 17"/>
          <p:cNvSpPr txBox="1"/>
          <p:nvPr/>
        </p:nvSpPr>
        <p:spPr>
          <a:xfrm>
            <a:off x="9322213" y="4851083"/>
            <a:ext cx="2315956" cy="398225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rip.com, Expedia, British Airways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object 17"/>
          <p:cNvSpPr txBox="1"/>
          <p:nvPr/>
        </p:nvSpPr>
        <p:spPr>
          <a:xfrm>
            <a:off x="9322213" y="5249323"/>
            <a:ext cx="2315956" cy="398225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goda, United Airlines, Singapre Airlines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object 17"/>
          <p:cNvSpPr txBox="1"/>
          <p:nvPr/>
        </p:nvSpPr>
        <p:spPr>
          <a:xfrm>
            <a:off x="9322213" y="5647563"/>
            <a:ext cx="2315956" cy="398225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US" altLang="zh-CN"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Trip.com, Agoda, Cathay Pacific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bject 17"/>
          <p:cNvSpPr txBox="1"/>
          <p:nvPr/>
        </p:nvSpPr>
        <p:spPr>
          <a:xfrm>
            <a:off x="9322213" y="6045803"/>
            <a:ext cx="2315956" cy="398225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900" dirty="0">
                <a:solidFill>
                  <a:srgbClr val="4A5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rip.com, Singapore Airlines, Amazon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2" name="图片 61" descr="post_object_image_213598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239" y="4891044"/>
            <a:ext cx="3314216" cy="1634915"/>
          </a:xfrm>
          <a:prstGeom prst="rect">
            <a:avLst/>
          </a:prstGeom>
        </p:spPr>
      </p:pic>
      <p:pic>
        <p:nvPicPr>
          <p:cNvPr id="64" name="图片 63" descr="post_object_image_13281522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61" y="2964809"/>
            <a:ext cx="3434615" cy="16368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 3"/>
          <p:cNvSpPr/>
          <p:nvPr/>
        </p:nvSpPr>
        <p:spPr>
          <a:xfrm>
            <a:off x="8878327" y="1632363"/>
            <a:ext cx="2929198" cy="4962314"/>
          </a:xfrm>
          <a:custGeom>
            <a:avLst/>
            <a:gdLst/>
            <a:ahLst/>
            <a:cxnLst/>
            <a:rect l="l" t="t" r="r" b="b"/>
            <a:pathLst>
              <a:path w="10972800" h="828675">
                <a:moveTo>
                  <a:pt x="10962734" y="828675"/>
                </a:moveTo>
                <a:lnTo>
                  <a:pt x="10062" y="828675"/>
                </a:lnTo>
                <a:lnTo>
                  <a:pt x="7715" y="824356"/>
                </a:lnTo>
                <a:lnTo>
                  <a:pt x="3885" y="815111"/>
                </a:lnTo>
                <a:lnTo>
                  <a:pt x="2440" y="810346"/>
                </a:lnTo>
                <a:lnTo>
                  <a:pt x="488" y="800532"/>
                </a:lnTo>
                <a:lnTo>
                  <a:pt x="0" y="795578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0901601" y="0"/>
                </a:lnTo>
                <a:lnTo>
                  <a:pt x="10943091" y="15621"/>
                </a:lnTo>
                <a:lnTo>
                  <a:pt x="10968910" y="51661"/>
                </a:lnTo>
                <a:lnTo>
                  <a:pt x="10972797" y="71196"/>
                </a:lnTo>
                <a:lnTo>
                  <a:pt x="10972797" y="795578"/>
                </a:lnTo>
                <a:lnTo>
                  <a:pt x="10962734" y="828675"/>
                </a:lnTo>
                <a:close/>
              </a:path>
            </a:pathLst>
          </a:custGeom>
          <a:solidFill>
            <a:srgbClr val="F9FAFA"/>
          </a:solidFill>
        </p:spPr>
        <p:txBody>
          <a:bodyPr wrap="square" lIns="0" tIns="0" rIns="0" bIns="0" rtlCol="0"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4765" y="264399"/>
            <a:ext cx="758952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Feedback</a:t>
            </a:r>
            <a:r>
              <a:rPr sz="2400" spc="-20" dirty="0"/>
              <a:t> </a:t>
            </a:r>
            <a:r>
              <a:rPr sz="2400" dirty="0"/>
              <a:t>Entry</a:t>
            </a:r>
            <a:r>
              <a:rPr sz="2400" spc="-20" dirty="0"/>
              <a:t> </a:t>
            </a:r>
            <a:r>
              <a:rPr sz="2400" dirty="0"/>
              <a:t>and</a:t>
            </a:r>
            <a:r>
              <a:rPr sz="2400" spc="-25" dirty="0"/>
              <a:t> </a:t>
            </a:r>
            <a:r>
              <a:rPr sz="2400" dirty="0"/>
              <a:t>Trigger</a:t>
            </a:r>
            <a:r>
              <a:rPr sz="2400" spc="-20" dirty="0"/>
              <a:t> </a:t>
            </a:r>
            <a:r>
              <a:rPr sz="2400" spc="-10" dirty="0"/>
              <a:t>Timing</a:t>
            </a:r>
            <a:endParaRPr sz="2400" spc="-10" dirty="0"/>
          </a:p>
        </p:txBody>
      </p:sp>
      <p:sp>
        <p:nvSpPr>
          <p:cNvPr id="7" name="object 7"/>
          <p:cNvSpPr/>
          <p:nvPr/>
        </p:nvSpPr>
        <p:spPr>
          <a:xfrm>
            <a:off x="374780" y="763062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380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38099" y="0"/>
                </a:lnTo>
                <a:lnTo>
                  <a:pt x="38099" y="2285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2880" y="763063"/>
            <a:ext cx="4307840" cy="3278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5969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Trip.com's</a:t>
            </a: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persistent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entry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flexible</a:t>
            </a:r>
            <a:r>
              <a:rPr sz="1200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lacks</a:t>
            </a: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visibility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65525" y="750582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380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38099" y="0"/>
                </a:lnTo>
                <a:lnTo>
                  <a:pt x="38099" y="2285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103625" y="750575"/>
            <a:ext cx="5690870" cy="253529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lang="en-US" altLang="zh-CN"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</a:t>
            </a:r>
            <a:r>
              <a:rPr sz="1200" b="1" spc="37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human transfer</a:t>
            </a:r>
            <a:r>
              <a:rPr lang="en-US" altLang="zh-CN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/at AI conversation end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most </a:t>
            </a: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/>
          <p:cNvSpPr/>
          <p:nvPr>
            <p:custDataLst>
              <p:tags r:id="rId1"/>
            </p:custDataLst>
          </p:nvPr>
        </p:nvSpPr>
        <p:spPr>
          <a:xfrm>
            <a:off x="242249" y="1443714"/>
            <a:ext cx="4555418" cy="497854"/>
          </a:xfrm>
          <a:custGeom>
            <a:avLst/>
            <a:gdLst/>
            <a:ahLst/>
            <a:cxnLst/>
            <a:rect l="l" t="t" r="r" b="b"/>
            <a:pathLst>
              <a:path w="5248275" h="695325">
                <a:moveTo>
                  <a:pt x="0" y="6238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0"/>
                </a:lnTo>
                <a:lnTo>
                  <a:pt x="17606" y="24240"/>
                </a:lnTo>
                <a:lnTo>
                  <a:pt x="52900" y="2287"/>
                </a:lnTo>
                <a:lnTo>
                  <a:pt x="66746" y="0"/>
                </a:lnTo>
                <a:lnTo>
                  <a:pt x="71437" y="0"/>
                </a:lnTo>
                <a:lnTo>
                  <a:pt x="5176837" y="0"/>
                </a:lnTo>
                <a:lnTo>
                  <a:pt x="5181527" y="0"/>
                </a:lnTo>
                <a:lnTo>
                  <a:pt x="5186173" y="457"/>
                </a:lnTo>
                <a:lnTo>
                  <a:pt x="5190773" y="1372"/>
                </a:lnTo>
                <a:lnTo>
                  <a:pt x="5195373" y="2287"/>
                </a:lnTo>
                <a:lnTo>
                  <a:pt x="5230667" y="24240"/>
                </a:lnTo>
                <a:lnTo>
                  <a:pt x="5247817" y="62100"/>
                </a:lnTo>
                <a:lnTo>
                  <a:pt x="5248274" y="66746"/>
                </a:lnTo>
                <a:lnTo>
                  <a:pt x="5248274" y="71437"/>
                </a:lnTo>
                <a:lnTo>
                  <a:pt x="5248274" y="623887"/>
                </a:lnTo>
                <a:lnTo>
                  <a:pt x="5248274" y="628578"/>
                </a:lnTo>
                <a:lnTo>
                  <a:pt x="5247817" y="633223"/>
                </a:lnTo>
                <a:lnTo>
                  <a:pt x="5230667" y="671084"/>
                </a:lnTo>
                <a:lnTo>
                  <a:pt x="5195373" y="693036"/>
                </a:lnTo>
                <a:lnTo>
                  <a:pt x="5176837" y="695324"/>
                </a:lnTo>
                <a:lnTo>
                  <a:pt x="71437" y="695324"/>
                </a:lnTo>
                <a:lnTo>
                  <a:pt x="31748" y="683285"/>
                </a:lnTo>
                <a:lnTo>
                  <a:pt x="5437" y="651225"/>
                </a:lnTo>
                <a:lnTo>
                  <a:pt x="0" y="628578"/>
                </a:lnTo>
                <a:lnTo>
                  <a:pt x="0" y="623887"/>
                </a:lnTo>
                <a:close/>
              </a:path>
            </a:pathLst>
          </a:custGeom>
          <a:ln w="9524">
            <a:solidFill>
              <a:srgbClr val="DFDF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>
            <p:custDataLst>
              <p:tags r:id="rId2"/>
            </p:custDataLst>
          </p:nvPr>
        </p:nvSpPr>
        <p:spPr>
          <a:xfrm>
            <a:off x="5046218" y="1443810"/>
            <a:ext cx="3479059" cy="497811"/>
          </a:xfrm>
          <a:custGeom>
            <a:avLst/>
            <a:gdLst/>
            <a:ahLst/>
            <a:cxnLst/>
            <a:rect l="l" t="t" r="r" b="b"/>
            <a:pathLst>
              <a:path w="5248275" h="695325">
                <a:moveTo>
                  <a:pt x="0" y="6238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7606" y="24240"/>
                </a:lnTo>
                <a:lnTo>
                  <a:pt x="20923" y="20923"/>
                </a:lnTo>
                <a:lnTo>
                  <a:pt x="24240" y="17606"/>
                </a:lnTo>
                <a:lnTo>
                  <a:pt x="62101" y="457"/>
                </a:lnTo>
                <a:lnTo>
                  <a:pt x="66746" y="0"/>
                </a:lnTo>
                <a:lnTo>
                  <a:pt x="71437" y="0"/>
                </a:lnTo>
                <a:lnTo>
                  <a:pt x="5176837" y="0"/>
                </a:lnTo>
                <a:lnTo>
                  <a:pt x="5181527" y="0"/>
                </a:lnTo>
                <a:lnTo>
                  <a:pt x="5186173" y="457"/>
                </a:lnTo>
                <a:lnTo>
                  <a:pt x="5190773" y="1372"/>
                </a:lnTo>
                <a:lnTo>
                  <a:pt x="5195373" y="2287"/>
                </a:lnTo>
                <a:lnTo>
                  <a:pt x="5230667" y="24240"/>
                </a:lnTo>
                <a:lnTo>
                  <a:pt x="5247817" y="62101"/>
                </a:lnTo>
                <a:lnTo>
                  <a:pt x="5248274" y="66746"/>
                </a:lnTo>
                <a:lnTo>
                  <a:pt x="5248274" y="71437"/>
                </a:lnTo>
                <a:lnTo>
                  <a:pt x="5248274" y="623887"/>
                </a:lnTo>
                <a:lnTo>
                  <a:pt x="5248274" y="628578"/>
                </a:lnTo>
                <a:lnTo>
                  <a:pt x="5247817" y="633223"/>
                </a:lnTo>
                <a:lnTo>
                  <a:pt x="5230667" y="671084"/>
                </a:lnTo>
                <a:lnTo>
                  <a:pt x="5195373" y="693036"/>
                </a:lnTo>
                <a:lnTo>
                  <a:pt x="5176837" y="695324"/>
                </a:lnTo>
                <a:lnTo>
                  <a:pt x="71437" y="695324"/>
                </a:lnTo>
                <a:lnTo>
                  <a:pt x="31748" y="683285"/>
                </a:lnTo>
                <a:lnTo>
                  <a:pt x="5437" y="651225"/>
                </a:lnTo>
                <a:lnTo>
                  <a:pt x="0" y="628578"/>
                </a:lnTo>
                <a:lnTo>
                  <a:pt x="0" y="623887"/>
                </a:lnTo>
                <a:close/>
              </a:path>
            </a:pathLst>
          </a:custGeom>
          <a:ln w="9524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pPr marL="285750" indent="-285750">
              <a:buFont typeface="Arial" panose="020B0604020202020204" pitchFamily="34" charset="0"/>
              <a:buChar char="•"/>
            </a:pPr>
          </a:p>
        </p:txBody>
      </p:sp>
      <p:sp>
        <p:nvSpPr>
          <p:cNvPr id="22" name="object 22"/>
          <p:cNvSpPr/>
          <p:nvPr>
            <p:custDataLst>
              <p:tags r:id="rId3"/>
            </p:custDataLst>
          </p:nvPr>
        </p:nvSpPr>
        <p:spPr>
          <a:xfrm>
            <a:off x="242249" y="4171220"/>
            <a:ext cx="4555418" cy="439483"/>
          </a:xfrm>
          <a:custGeom>
            <a:avLst/>
            <a:gdLst/>
            <a:ahLst/>
            <a:cxnLst/>
            <a:rect l="l" t="t" r="r" b="b"/>
            <a:pathLst>
              <a:path w="5248275" h="695325">
                <a:moveTo>
                  <a:pt x="0" y="6238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1"/>
                </a:lnTo>
                <a:lnTo>
                  <a:pt x="17606" y="24240"/>
                </a:lnTo>
                <a:lnTo>
                  <a:pt x="20923" y="20923"/>
                </a:lnTo>
                <a:lnTo>
                  <a:pt x="24240" y="17606"/>
                </a:lnTo>
                <a:lnTo>
                  <a:pt x="57500" y="1372"/>
                </a:lnTo>
                <a:lnTo>
                  <a:pt x="62101" y="457"/>
                </a:lnTo>
                <a:lnTo>
                  <a:pt x="66746" y="0"/>
                </a:lnTo>
                <a:lnTo>
                  <a:pt x="71437" y="0"/>
                </a:lnTo>
                <a:lnTo>
                  <a:pt x="5176837" y="0"/>
                </a:lnTo>
                <a:lnTo>
                  <a:pt x="5181527" y="0"/>
                </a:lnTo>
                <a:lnTo>
                  <a:pt x="5186173" y="457"/>
                </a:lnTo>
                <a:lnTo>
                  <a:pt x="5190773" y="1372"/>
                </a:lnTo>
                <a:lnTo>
                  <a:pt x="5195373" y="2287"/>
                </a:lnTo>
                <a:lnTo>
                  <a:pt x="5230667" y="24240"/>
                </a:lnTo>
                <a:lnTo>
                  <a:pt x="5247817" y="62101"/>
                </a:lnTo>
                <a:lnTo>
                  <a:pt x="5248274" y="66746"/>
                </a:lnTo>
                <a:lnTo>
                  <a:pt x="5248274" y="71437"/>
                </a:lnTo>
                <a:lnTo>
                  <a:pt x="5248274" y="623887"/>
                </a:lnTo>
                <a:lnTo>
                  <a:pt x="5248274" y="628578"/>
                </a:lnTo>
                <a:lnTo>
                  <a:pt x="5247817" y="633223"/>
                </a:lnTo>
                <a:lnTo>
                  <a:pt x="5230667" y="671084"/>
                </a:lnTo>
                <a:lnTo>
                  <a:pt x="5195373" y="693037"/>
                </a:lnTo>
                <a:lnTo>
                  <a:pt x="5190773" y="693951"/>
                </a:lnTo>
                <a:lnTo>
                  <a:pt x="5186173" y="694867"/>
                </a:lnTo>
                <a:lnTo>
                  <a:pt x="5181527" y="695324"/>
                </a:lnTo>
                <a:lnTo>
                  <a:pt x="5176837" y="695324"/>
                </a:lnTo>
                <a:lnTo>
                  <a:pt x="71437" y="695324"/>
                </a:lnTo>
                <a:lnTo>
                  <a:pt x="66746" y="695324"/>
                </a:lnTo>
                <a:lnTo>
                  <a:pt x="62101" y="694867"/>
                </a:lnTo>
                <a:lnTo>
                  <a:pt x="57500" y="693952"/>
                </a:lnTo>
                <a:lnTo>
                  <a:pt x="52900" y="693037"/>
                </a:lnTo>
                <a:lnTo>
                  <a:pt x="31748" y="683284"/>
                </a:lnTo>
                <a:lnTo>
                  <a:pt x="27848" y="680679"/>
                </a:lnTo>
                <a:lnTo>
                  <a:pt x="3642" y="646891"/>
                </a:lnTo>
                <a:lnTo>
                  <a:pt x="0" y="628578"/>
                </a:lnTo>
                <a:lnTo>
                  <a:pt x="0" y="623887"/>
                </a:lnTo>
                <a:close/>
              </a:path>
            </a:pathLst>
          </a:custGeom>
          <a:ln w="9524">
            <a:solidFill>
              <a:srgbClr val="DFDF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>
            <p:custDataLst>
              <p:tags r:id="rId4"/>
            </p:custDataLst>
          </p:nvPr>
        </p:nvSpPr>
        <p:spPr>
          <a:xfrm>
            <a:off x="5058895" y="4171257"/>
            <a:ext cx="3466381" cy="469264"/>
          </a:xfrm>
          <a:custGeom>
            <a:avLst/>
            <a:gdLst/>
            <a:ahLst/>
            <a:cxnLst/>
            <a:rect l="l" t="t" r="r" b="b"/>
            <a:pathLst>
              <a:path w="5248275" h="695325">
                <a:moveTo>
                  <a:pt x="0" y="623887"/>
                </a:moveTo>
                <a:lnTo>
                  <a:pt x="0" y="71437"/>
                </a:lnTo>
                <a:lnTo>
                  <a:pt x="0" y="66746"/>
                </a:lnTo>
                <a:lnTo>
                  <a:pt x="457" y="62100"/>
                </a:lnTo>
                <a:lnTo>
                  <a:pt x="17606" y="24239"/>
                </a:lnTo>
                <a:lnTo>
                  <a:pt x="20923" y="20923"/>
                </a:lnTo>
                <a:lnTo>
                  <a:pt x="24240" y="17606"/>
                </a:lnTo>
                <a:lnTo>
                  <a:pt x="57500" y="1372"/>
                </a:lnTo>
                <a:lnTo>
                  <a:pt x="62101" y="457"/>
                </a:lnTo>
                <a:lnTo>
                  <a:pt x="66746" y="0"/>
                </a:lnTo>
                <a:lnTo>
                  <a:pt x="71437" y="0"/>
                </a:lnTo>
                <a:lnTo>
                  <a:pt x="5176837" y="0"/>
                </a:lnTo>
                <a:lnTo>
                  <a:pt x="5181527" y="0"/>
                </a:lnTo>
                <a:lnTo>
                  <a:pt x="5186173" y="457"/>
                </a:lnTo>
                <a:lnTo>
                  <a:pt x="5190773" y="1372"/>
                </a:lnTo>
                <a:lnTo>
                  <a:pt x="5195373" y="2287"/>
                </a:lnTo>
                <a:lnTo>
                  <a:pt x="5230667" y="24239"/>
                </a:lnTo>
                <a:lnTo>
                  <a:pt x="5247817" y="62100"/>
                </a:lnTo>
                <a:lnTo>
                  <a:pt x="5248274" y="66746"/>
                </a:lnTo>
                <a:lnTo>
                  <a:pt x="5248274" y="71437"/>
                </a:lnTo>
                <a:lnTo>
                  <a:pt x="5248274" y="623887"/>
                </a:lnTo>
                <a:lnTo>
                  <a:pt x="5248274" y="628577"/>
                </a:lnTo>
                <a:lnTo>
                  <a:pt x="5247817" y="633223"/>
                </a:lnTo>
                <a:lnTo>
                  <a:pt x="5230667" y="671084"/>
                </a:lnTo>
                <a:lnTo>
                  <a:pt x="5204174" y="689886"/>
                </a:lnTo>
                <a:lnTo>
                  <a:pt x="5199840" y="691681"/>
                </a:lnTo>
                <a:lnTo>
                  <a:pt x="5195373" y="693036"/>
                </a:lnTo>
                <a:lnTo>
                  <a:pt x="5190773" y="693951"/>
                </a:lnTo>
                <a:lnTo>
                  <a:pt x="5186173" y="694866"/>
                </a:lnTo>
                <a:lnTo>
                  <a:pt x="5181527" y="695324"/>
                </a:lnTo>
                <a:lnTo>
                  <a:pt x="5176837" y="695324"/>
                </a:lnTo>
                <a:lnTo>
                  <a:pt x="71437" y="695324"/>
                </a:lnTo>
                <a:lnTo>
                  <a:pt x="66746" y="695324"/>
                </a:lnTo>
                <a:lnTo>
                  <a:pt x="62101" y="694866"/>
                </a:lnTo>
                <a:lnTo>
                  <a:pt x="57500" y="693951"/>
                </a:lnTo>
                <a:lnTo>
                  <a:pt x="52900" y="693036"/>
                </a:lnTo>
                <a:lnTo>
                  <a:pt x="48433" y="691681"/>
                </a:lnTo>
                <a:lnTo>
                  <a:pt x="44099" y="689886"/>
                </a:lnTo>
                <a:lnTo>
                  <a:pt x="39765" y="688091"/>
                </a:lnTo>
                <a:lnTo>
                  <a:pt x="9433" y="659675"/>
                </a:lnTo>
                <a:lnTo>
                  <a:pt x="0" y="628577"/>
                </a:lnTo>
                <a:lnTo>
                  <a:pt x="0" y="623887"/>
                </a:lnTo>
                <a:close/>
              </a:path>
            </a:pathLst>
          </a:custGeom>
          <a:ln w="9524">
            <a:solidFill>
              <a:srgbClr val="DFDF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74765" y="1109114"/>
            <a:ext cx="22644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</a:t>
            </a:r>
            <a:r>
              <a:rPr sz="1350" b="1" spc="-6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sz="1350" b="1" spc="-6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bject 28"/>
          <p:cNvSpPr txBox="1"/>
          <p:nvPr>
            <p:custDataLst>
              <p:tags r:id="rId5"/>
            </p:custDataLst>
          </p:nvPr>
        </p:nvSpPr>
        <p:spPr>
          <a:xfrm>
            <a:off x="3768268" y="1349401"/>
            <a:ext cx="802576" cy="133384"/>
          </a:xfrm>
          <a:prstGeom prst="rect">
            <a:avLst/>
          </a:prstGeom>
          <a:solidFill>
            <a:schemeClr val="bg1">
              <a:alpha val="100000"/>
            </a:schemeClr>
          </a:solidFill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1000" b="1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timing</a:t>
            </a:r>
            <a:endParaRPr lang="en-US" altLang="zh-CN" sz="1000" b="1">
              <a:solidFill>
                <a:srgbClr val="3364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bject 29"/>
          <p:cNvSpPr txBox="1"/>
          <p:nvPr>
            <p:custDataLst>
              <p:tags r:id="rId6"/>
            </p:custDataLst>
          </p:nvPr>
        </p:nvSpPr>
        <p:spPr>
          <a:xfrm>
            <a:off x="367955" y="1482812"/>
            <a:ext cx="3281679" cy="419735"/>
          </a:xfrm>
          <a:prstGeom prst="rect">
            <a:avLst/>
          </a:prstGeom>
        </p:spPr>
        <p:txBody>
          <a:bodyPr vert="horz" wrap="square" lIns="0" tIns="6096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sz="1200" b="1" spc="-6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</a:t>
            </a:r>
            <a:r>
              <a:rPr sz="1200" b="1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sz="1200" b="1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Conversation</a:t>
            </a:r>
            <a:r>
              <a:rPr sz="1200" b="1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2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11000"/>
              </a:lnSpc>
              <a:spcBef>
                <a:spcPts val="165"/>
              </a:spcBef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Advantage: Optimal timing when user has completed their </a:t>
            </a:r>
            <a:r>
              <a:rPr sz="900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bject 31"/>
          <p:cNvSpPr txBox="1"/>
          <p:nvPr>
            <p:custDataLst>
              <p:tags r:id="rId7"/>
            </p:custDataLst>
          </p:nvPr>
        </p:nvSpPr>
        <p:spPr>
          <a:xfrm>
            <a:off x="5114797" y="1473654"/>
            <a:ext cx="3168015" cy="4197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lang="en-US" altLang="zh-CN"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1200" b="1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</a:t>
            </a:r>
            <a:r>
              <a:rPr sz="1200" b="1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sz="1200" b="1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</a:t>
            </a:r>
            <a:r>
              <a:rPr sz="1200" b="1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16255">
              <a:lnSpc>
                <a:spcPct val="111000"/>
              </a:lnSpc>
              <a:spcBef>
                <a:spcPts val="165"/>
              </a:spcBef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Advantage: Precise timing for targeted</a:t>
            </a:r>
            <a:r>
              <a:rPr sz="900" spc="-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bject 33"/>
          <p:cNvSpPr txBox="1"/>
          <p:nvPr>
            <p:custDataLst>
              <p:tags r:id="rId8"/>
            </p:custDataLst>
          </p:nvPr>
        </p:nvSpPr>
        <p:spPr>
          <a:xfrm>
            <a:off x="374765" y="4171257"/>
            <a:ext cx="3034665" cy="439420"/>
          </a:xfrm>
          <a:prstGeom prst="rect">
            <a:avLst/>
          </a:prstGeom>
        </p:spPr>
        <p:txBody>
          <a:bodyPr vert="horz" wrap="square" lIns="0" tIns="6096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lang="en-US" altLang="zh-CN"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1200" b="1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Persistent</a:t>
            </a:r>
            <a:r>
              <a:rPr sz="1200" b="1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Entry for</a:t>
            </a:r>
            <a:r>
              <a:rPr sz="1200" b="1" spc="-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Anytime</a:t>
            </a:r>
            <a:r>
              <a:rPr sz="1200" b="1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Triggering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Advantage:</a:t>
            </a:r>
            <a:r>
              <a:rPr sz="900" spc="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sz="900" spc="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flexibility,</a:t>
            </a:r>
            <a:r>
              <a:rPr sz="900" spc="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n</a:t>
            </a:r>
            <a:r>
              <a:rPr sz="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eeds</a:t>
            </a:r>
            <a:r>
              <a:rPr sz="900" spc="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</a:t>
            </a:r>
            <a:r>
              <a:rPr sz="900" spc="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visibility</a:t>
            </a:r>
            <a:endParaRPr sz="90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bject 35"/>
          <p:cNvSpPr txBox="1"/>
          <p:nvPr>
            <p:custDataLst>
              <p:tags r:id="rId9"/>
            </p:custDataLst>
          </p:nvPr>
        </p:nvSpPr>
        <p:spPr>
          <a:xfrm>
            <a:off x="5127475" y="4171289"/>
            <a:ext cx="2910122" cy="439420"/>
          </a:xfrm>
          <a:prstGeom prst="rect">
            <a:avLst/>
          </a:prstGeom>
        </p:spPr>
        <p:txBody>
          <a:bodyPr vert="horz" wrap="square" lIns="0" tIns="6096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sz="1200" b="1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Thumbs</a:t>
            </a:r>
            <a:r>
              <a:rPr sz="1200" b="1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p/</a:t>
            </a:r>
            <a:r>
              <a:rPr lang="en-US" altLang="zh-CN"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342265">
              <a:lnSpc>
                <a:spcPct val="111000"/>
              </a:lnSpc>
              <a:spcBef>
                <a:spcPts val="165"/>
              </a:spcBef>
            </a:pPr>
            <a:r>
              <a:rPr lang="en-US" altLang="zh-CN"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Succinct and i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mmediate feedback during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conversation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object 28"/>
          <p:cNvSpPr txBox="1"/>
          <p:nvPr>
            <p:custDataLst>
              <p:tags r:id="rId10"/>
            </p:custDataLst>
          </p:nvPr>
        </p:nvSpPr>
        <p:spPr>
          <a:xfrm>
            <a:off x="7538002" y="1340254"/>
            <a:ext cx="744821" cy="212690"/>
          </a:xfrm>
          <a:prstGeom prst="rect">
            <a:avLst/>
          </a:prstGeom>
          <a:solidFill>
            <a:schemeClr val="bg1">
              <a:alpha val="100000"/>
            </a:schemeClr>
          </a:solidFill>
        </p:spPr>
        <p:txBody>
          <a:bodyPr vert="horz" wrap="square" lIns="0" tIns="12700" rIns="0" bIns="0" rtlCol="0" anchor="t">
            <a:noAutofit/>
          </a:bodyPr>
          <a:p>
            <a:pPr marL="12700" indent="0" algn="ctr" rtl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None/>
            </a:pPr>
            <a:r>
              <a:rPr lang="en-US" altLang="zh-CN" sz="1000" b="1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Targeted</a:t>
            </a:r>
            <a:endParaRPr lang="en-US" altLang="zh-CN" sz="1000" b="1">
              <a:solidFill>
                <a:srgbClr val="3364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bject 28"/>
          <p:cNvSpPr txBox="1"/>
          <p:nvPr>
            <p:custDataLst>
              <p:tags r:id="rId11"/>
            </p:custDataLst>
          </p:nvPr>
        </p:nvSpPr>
        <p:spPr>
          <a:xfrm>
            <a:off x="3874199" y="4107093"/>
            <a:ext cx="723519" cy="146598"/>
          </a:xfrm>
          <a:prstGeom prst="rect">
            <a:avLst/>
          </a:prstGeom>
          <a:solidFill>
            <a:schemeClr val="bg1">
              <a:alpha val="100000"/>
            </a:schemeClr>
          </a:solidFill>
        </p:spPr>
        <p:txBody>
          <a:bodyPr vert="horz" wrap="square" lIns="0" tIns="12700" rIns="0" bIns="0" rtlCol="0" anchor="t">
            <a:noAutofit/>
          </a:bodyPr>
          <a:p>
            <a:pPr marL="12700" indent="0" algn="ctr" rtl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None/>
            </a:pPr>
            <a:r>
              <a:rPr lang="en-US" altLang="zh-CN" sz="1000" b="1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Flexible</a:t>
            </a:r>
            <a:endParaRPr lang="en-US" altLang="zh-CN" sz="1000" b="1">
              <a:solidFill>
                <a:srgbClr val="3364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bject 28"/>
          <p:cNvSpPr txBox="1"/>
          <p:nvPr>
            <p:custDataLst>
              <p:tags r:id="rId12"/>
            </p:custDataLst>
          </p:nvPr>
        </p:nvSpPr>
        <p:spPr>
          <a:xfrm>
            <a:off x="7499902" y="4107093"/>
            <a:ext cx="782921" cy="212690"/>
          </a:xfrm>
          <a:prstGeom prst="rect">
            <a:avLst/>
          </a:prstGeom>
          <a:solidFill>
            <a:schemeClr val="bg1">
              <a:alpha val="100000"/>
            </a:schemeClr>
          </a:solidFill>
        </p:spPr>
        <p:txBody>
          <a:bodyPr vert="horz" wrap="square" lIns="0" tIns="12700" rIns="0" bIns="0" rtlCol="0" anchor="t">
            <a:noAutofit/>
          </a:bodyPr>
          <a:p>
            <a:pPr marL="12700" indent="0" algn="ctr" rtl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None/>
            </a:pPr>
            <a:r>
              <a:rPr lang="en-US" altLang="zh-CN" sz="1000" b="1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Immediate</a:t>
            </a:r>
            <a:endParaRPr lang="en-US" altLang="zh-CN" sz="1000" b="1">
              <a:solidFill>
                <a:srgbClr val="3364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 descr="post_object_image_39875754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2249" y="2033368"/>
            <a:ext cx="2461927" cy="1963063"/>
          </a:xfrm>
          <a:prstGeom prst="rect">
            <a:avLst/>
          </a:prstGeom>
          <a:noFill/>
          <a:effectLst>
            <a:outerShdw blurRad="114300" dist="63500" dir="2700000" algn="tl" rotWithShape="0">
              <a:srgbClr val="000000">
                <a:alpha val="30000"/>
              </a:srgbClr>
            </a:outerShdw>
          </a:effectLst>
        </p:spPr>
      </p:pic>
      <p:pic>
        <p:nvPicPr>
          <p:cNvPr id="20" name="图片 19" descr="post_object_image_480587644"/>
          <p:cNvPicPr>
            <a:picLocks noChangeAspect="1"/>
          </p:cNvPicPr>
          <p:nvPr/>
        </p:nvPicPr>
        <p:blipFill>
          <a:blip r:embed="rId14"/>
          <a:srcRect l="991" t="63826" r="65799" b="7352"/>
          <a:stretch>
            <a:fillRect/>
          </a:stretch>
        </p:blipFill>
        <p:spPr>
          <a:xfrm>
            <a:off x="2449439" y="4715522"/>
            <a:ext cx="2348207" cy="1905653"/>
          </a:xfrm>
          <a:prstGeom prst="rect">
            <a:avLst/>
          </a:prstGeom>
          <a:effectLst>
            <a:outerShdw blurRad="38100" dist="63500" dir="2700000" algn="tl" rotWithShape="0">
              <a:srgbClr val="000000">
                <a:alpha val="30000"/>
              </a:srgbClr>
            </a:outerShdw>
            <a:softEdge rad="0"/>
          </a:effectLst>
        </p:spPr>
      </p:pic>
      <p:pic>
        <p:nvPicPr>
          <p:cNvPr id="21" name="图片 20" descr="post_object_image_352473800"/>
          <p:cNvPicPr>
            <a:picLocks noChangeAspect="1"/>
          </p:cNvPicPr>
          <p:nvPr/>
        </p:nvPicPr>
        <p:blipFill>
          <a:blip r:embed="rId15"/>
          <a:srcRect b="17985"/>
          <a:stretch>
            <a:fillRect/>
          </a:stretch>
        </p:blipFill>
        <p:spPr>
          <a:xfrm>
            <a:off x="242249" y="4715510"/>
            <a:ext cx="2179764" cy="1905666"/>
          </a:xfrm>
          <a:prstGeom prst="rect">
            <a:avLst/>
          </a:prstGeom>
          <a:effectLst>
            <a:outerShdw blurRad="114300" dist="63500" dir="2700000" algn="tl" rotWithShape="0">
              <a:srgbClr val="000000">
                <a:alpha val="30000"/>
              </a:srgbClr>
            </a:outerShdw>
          </a:effectLst>
        </p:spPr>
      </p:pic>
      <p:pic>
        <p:nvPicPr>
          <p:cNvPr id="24" name="图片 23" descr="post_object_image_3064900112"/>
          <p:cNvPicPr>
            <a:picLocks noChangeAspect="1"/>
          </p:cNvPicPr>
          <p:nvPr/>
        </p:nvPicPr>
        <p:blipFill>
          <a:blip r:embed="rId16"/>
          <a:srcRect t="57701" r="1793" b="9002"/>
          <a:stretch>
            <a:fillRect/>
          </a:stretch>
        </p:blipFill>
        <p:spPr>
          <a:xfrm>
            <a:off x="5046228" y="1968529"/>
            <a:ext cx="2610485" cy="2056130"/>
          </a:xfrm>
          <a:prstGeom prst="rect">
            <a:avLst/>
          </a:prstGeom>
          <a:noFill/>
          <a:effectLst>
            <a:outerShdw blurRad="114300" dist="63500" dir="2700000" algn="tl" rotWithShape="0">
              <a:srgbClr val="000000">
                <a:alpha val="30000"/>
              </a:srgbClr>
            </a:outerShdw>
          </a:effectLst>
        </p:spPr>
      </p:pic>
      <p:pic>
        <p:nvPicPr>
          <p:cNvPr id="30" name="图片 29" descr="post_object_image_3003991913"/>
          <p:cNvPicPr>
            <a:picLocks noChangeAspect="1"/>
          </p:cNvPicPr>
          <p:nvPr/>
        </p:nvPicPr>
        <p:blipFill>
          <a:blip r:embed="rId17"/>
          <a:srcRect l="334" t="31944" b="15675"/>
          <a:stretch>
            <a:fillRect/>
          </a:stretch>
        </p:blipFill>
        <p:spPr>
          <a:xfrm>
            <a:off x="5123825" y="4741990"/>
            <a:ext cx="2695874" cy="1879191"/>
          </a:xfrm>
          <a:prstGeom prst="rect">
            <a:avLst/>
          </a:prstGeom>
          <a:noFill/>
          <a:effectLst>
            <a:outerShdw blurRad="114300" dist="635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38" name="object 39"/>
          <p:cNvSpPr txBox="1"/>
          <p:nvPr/>
        </p:nvSpPr>
        <p:spPr>
          <a:xfrm>
            <a:off x="8878369" y="1203113"/>
            <a:ext cx="28073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</a:t>
            </a:r>
            <a:r>
              <a:rPr sz="1350" b="1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sz="1350" b="1" spc="-4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</a:t>
            </a:r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object 4"/>
          <p:cNvSpPr/>
          <p:nvPr/>
        </p:nvSpPr>
        <p:spPr>
          <a:xfrm>
            <a:off x="9025266" y="2069635"/>
            <a:ext cx="2635336" cy="564451"/>
          </a:xfrm>
          <a:custGeom>
            <a:avLst/>
            <a:gdLst/>
            <a:ahLst/>
            <a:cxnLst/>
            <a:rect l="l" t="t" r="r" b="b"/>
            <a:pathLst>
              <a:path w="2343150" h="428625">
                <a:moveTo>
                  <a:pt x="2276402" y="428624"/>
                </a:moveTo>
                <a:lnTo>
                  <a:pt x="66746" y="428624"/>
                </a:lnTo>
                <a:lnTo>
                  <a:pt x="62101" y="428166"/>
                </a:lnTo>
                <a:lnTo>
                  <a:pt x="24240" y="411017"/>
                </a:lnTo>
                <a:lnTo>
                  <a:pt x="2287" y="375724"/>
                </a:lnTo>
                <a:lnTo>
                  <a:pt x="0" y="361877"/>
                </a:lnTo>
                <a:lnTo>
                  <a:pt x="0" y="357187"/>
                </a:lnTo>
                <a:lnTo>
                  <a:pt x="0" y="66746"/>
                </a:lnTo>
                <a:lnTo>
                  <a:pt x="14645" y="27848"/>
                </a:lnTo>
                <a:lnTo>
                  <a:pt x="48433" y="3642"/>
                </a:lnTo>
                <a:lnTo>
                  <a:pt x="66746" y="0"/>
                </a:lnTo>
                <a:lnTo>
                  <a:pt x="2276402" y="0"/>
                </a:lnTo>
                <a:lnTo>
                  <a:pt x="2315300" y="14645"/>
                </a:lnTo>
                <a:lnTo>
                  <a:pt x="2339506" y="48432"/>
                </a:lnTo>
                <a:lnTo>
                  <a:pt x="2343149" y="66746"/>
                </a:lnTo>
                <a:lnTo>
                  <a:pt x="2343149" y="361877"/>
                </a:lnTo>
                <a:lnTo>
                  <a:pt x="2328504" y="400774"/>
                </a:lnTo>
                <a:lnTo>
                  <a:pt x="2294716" y="424980"/>
                </a:lnTo>
                <a:lnTo>
                  <a:pt x="2281048" y="428166"/>
                </a:lnTo>
                <a:lnTo>
                  <a:pt x="2276402" y="428624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wrap="square" lIns="0" tIns="0" rIns="0" bIns="0" rtlCol="0" anchor="ctr"/>
          <a:p>
            <a:pPr algn="ctr">
              <a:spcBef>
                <a:spcPts val="290"/>
              </a:spcBef>
            </a:pPr>
            <a:r>
              <a:rPr sz="1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Current</a:t>
            </a:r>
            <a:r>
              <a:rPr sz="1000" b="1" spc="-4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00" b="1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Mode</a:t>
            </a:r>
            <a:endParaRPr sz="1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165"/>
              </a:spcBef>
            </a:pP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Persistent </a:t>
            </a:r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survey entry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+ thumbs </a:t>
            </a:r>
            <a:r>
              <a:rPr sz="10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up/down</a:t>
            </a:r>
            <a:endParaRPr lang="en-US" altLang="zh-C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bject 4"/>
          <p:cNvSpPr/>
          <p:nvPr/>
        </p:nvSpPr>
        <p:spPr>
          <a:xfrm>
            <a:off x="9025266" y="3094940"/>
            <a:ext cx="2635336" cy="552432"/>
          </a:xfrm>
          <a:custGeom>
            <a:avLst/>
            <a:gdLst/>
            <a:ahLst/>
            <a:cxnLst/>
            <a:rect l="l" t="t" r="r" b="b"/>
            <a:pathLst>
              <a:path w="2343150" h="428625">
                <a:moveTo>
                  <a:pt x="2276402" y="428624"/>
                </a:moveTo>
                <a:lnTo>
                  <a:pt x="66746" y="428624"/>
                </a:lnTo>
                <a:lnTo>
                  <a:pt x="62101" y="428166"/>
                </a:lnTo>
                <a:lnTo>
                  <a:pt x="24240" y="411017"/>
                </a:lnTo>
                <a:lnTo>
                  <a:pt x="2287" y="375724"/>
                </a:lnTo>
                <a:lnTo>
                  <a:pt x="0" y="361877"/>
                </a:lnTo>
                <a:lnTo>
                  <a:pt x="0" y="357187"/>
                </a:lnTo>
                <a:lnTo>
                  <a:pt x="0" y="66746"/>
                </a:lnTo>
                <a:lnTo>
                  <a:pt x="14645" y="27848"/>
                </a:lnTo>
                <a:lnTo>
                  <a:pt x="48433" y="3642"/>
                </a:lnTo>
                <a:lnTo>
                  <a:pt x="66746" y="0"/>
                </a:lnTo>
                <a:lnTo>
                  <a:pt x="2276402" y="0"/>
                </a:lnTo>
                <a:lnTo>
                  <a:pt x="2315300" y="14645"/>
                </a:lnTo>
                <a:lnTo>
                  <a:pt x="2339506" y="48432"/>
                </a:lnTo>
                <a:lnTo>
                  <a:pt x="2343149" y="66746"/>
                </a:lnTo>
                <a:lnTo>
                  <a:pt x="2343149" y="361877"/>
                </a:lnTo>
                <a:lnTo>
                  <a:pt x="2328504" y="400774"/>
                </a:lnTo>
                <a:lnTo>
                  <a:pt x="2294716" y="424980"/>
                </a:lnTo>
                <a:lnTo>
                  <a:pt x="2281048" y="428166"/>
                </a:lnTo>
                <a:lnTo>
                  <a:pt x="2276402" y="428624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wrap="square" lIns="0" tIns="0" rIns="0" bIns="0" rtlCol="0" anchor="ctr"/>
          <a:p>
            <a:pPr algn="ctr">
              <a:spcBef>
                <a:spcPts val="290"/>
              </a:spcBef>
            </a:pPr>
            <a:r>
              <a:rPr sz="10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Optimize</a:t>
            </a:r>
            <a:endParaRPr sz="1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165"/>
              </a:spcBef>
            </a:pP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Add </a:t>
            </a:r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feedback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proactive </a:t>
            </a:r>
            <a:r>
              <a:rPr sz="10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trigger</a:t>
            </a:r>
            <a:endParaRPr lang="en-US" altLang="zh-C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圆角矩形 56"/>
          <p:cNvSpPr/>
          <p:nvPr userDrawn="1"/>
        </p:nvSpPr>
        <p:spPr>
          <a:xfrm>
            <a:off x="9025241" y="4319800"/>
            <a:ext cx="2635385" cy="1978597"/>
          </a:xfrm>
          <a:prstGeom prst="roundRect">
            <a:avLst>
              <a:gd name="adj" fmla="val 10256"/>
            </a:avLst>
          </a:prstGeom>
          <a:solidFill>
            <a:schemeClr val="bg1">
              <a:alpha val="100000"/>
            </a:schemeClr>
          </a:solidFill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>
              <a:spcBef>
                <a:spcPts val="0"/>
              </a:spcBef>
            </a:pPr>
            <a:r>
              <a:rPr lang="en-US" altLang="zh-CN" sz="1200" b="1" spc="-10" dirty="0">
                <a:solidFill>
                  <a:srgbClr val="1C4ED8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</a:t>
            </a:r>
            <a:r>
              <a:rPr sz="1200" b="1" spc="-10" dirty="0">
                <a:solidFill>
                  <a:srgbClr val="1C4ED8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mplementation:</a:t>
            </a:r>
            <a:endParaRPr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194945" indent="-171450" algn="l">
              <a:lnSpc>
                <a:spcPct val="104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Improve</a:t>
            </a:r>
            <a:r>
              <a:rPr sz="1000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visibility</a:t>
            </a:r>
            <a:r>
              <a:rPr sz="10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</a:t>
            </a:r>
            <a:r>
              <a:rPr sz="1000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"Give</a:t>
            </a:r>
            <a:r>
              <a:rPr sz="10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feedback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" </a:t>
            </a:r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</a:t>
            </a:r>
            <a:r>
              <a:rPr sz="10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ntry </a:t>
            </a:r>
            <a:endParaRPr sz="1000" spc="-1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Add</a:t>
            </a:r>
            <a:r>
              <a:rPr sz="1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proactive invitation </a:t>
            </a:r>
            <a:r>
              <a:rPr lang="en-US" altLang="zh-CN" sz="1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script </a:t>
            </a: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before human </a:t>
            </a:r>
            <a:r>
              <a:rPr sz="10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transfer</a:t>
            </a:r>
            <a:r>
              <a:rPr lang="en-US" altLang="zh-CN" sz="10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 AI Chat end </a:t>
            </a:r>
            <a:r>
              <a:rPr lang="en-US" altLang="zh-CN" sz="900" i="1" spc="-1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(Ref: </a:t>
            </a:r>
            <a:r>
              <a:rPr sz="900" i="1" spc="-1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900" i="1" spc="-1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Agoda, Expedia, United Airline, Cathay Pacific)</a:t>
            </a:r>
            <a:endParaRPr sz="900" i="1" spc="-1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</a:t>
            </a:r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in-chat survey trigger</a:t>
            </a:r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the end of AI conversation </a:t>
            </a:r>
            <a:endParaRPr lang="en-US" altLang="zh-CN" sz="1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en-US" altLang="zh-CN" sz="1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900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900" i="1" spc="-1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(Ref: Singapore Airline, United Airline )</a:t>
            </a:r>
            <a:endParaRPr lang="en-US" altLang="zh-CN" sz="900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zh-CN" sz="1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直接箭头连接符 58"/>
          <p:cNvCxnSpPr/>
          <p:nvPr userDrawn="1"/>
        </p:nvCxnSpPr>
        <p:spPr>
          <a:xfrm>
            <a:off x="10332642" y="2643023"/>
            <a:ext cx="0" cy="465667"/>
          </a:xfrm>
          <a:prstGeom prst="straightConnector1">
            <a:avLst/>
          </a:prstGeom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endCxn id="57" idx="0"/>
          </p:cNvCxnSpPr>
          <p:nvPr userDrawn="1"/>
        </p:nvCxnSpPr>
        <p:spPr>
          <a:xfrm>
            <a:off x="10342795" y="3634222"/>
            <a:ext cx="0" cy="685826"/>
          </a:xfrm>
          <a:prstGeom prst="straightConnector1">
            <a:avLst/>
          </a:prstGeom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2" name="图片 61" descr="post_object_image_245649531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95354" y="2033390"/>
            <a:ext cx="854306" cy="218638"/>
          </a:xfrm>
          <a:prstGeom prst="rect">
            <a:avLst/>
          </a:prstGeom>
        </p:spPr>
      </p:pic>
      <p:pic>
        <p:nvPicPr>
          <p:cNvPr id="63" name="图片 62" descr="post_object_image_3080603008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7784833" y="2003382"/>
            <a:ext cx="615241" cy="311116"/>
          </a:xfrm>
          <a:prstGeom prst="rect">
            <a:avLst/>
          </a:prstGeom>
          <a:noFill/>
        </p:spPr>
      </p:pic>
      <p:pic>
        <p:nvPicPr>
          <p:cNvPr id="64" name="图片 63" descr="post_object_image_403549876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4087185" y="4640514"/>
            <a:ext cx="633499" cy="179292"/>
          </a:xfrm>
          <a:prstGeom prst="rect">
            <a:avLst/>
          </a:prstGeom>
          <a:noFill/>
        </p:spPr>
      </p:pic>
      <p:pic>
        <p:nvPicPr>
          <p:cNvPr id="65" name="图片 64" descr="post_object_image_1526434778"/>
          <p:cNvPicPr>
            <a:picLocks noChangeAspect="1"/>
          </p:cNvPicPr>
          <p:nvPr/>
        </p:nvPicPr>
        <p:blipFill>
          <a:blip r:embed="rId21"/>
          <a:srcRect t="16133" b="16133"/>
          <a:stretch>
            <a:fillRect/>
          </a:stretch>
        </p:blipFill>
        <p:spPr>
          <a:xfrm>
            <a:off x="7843318" y="4741984"/>
            <a:ext cx="724163" cy="286938"/>
          </a:xfrm>
          <a:prstGeom prst="rect">
            <a:avLst/>
          </a:prstGeom>
          <a:noFill/>
        </p:spPr>
      </p:pic>
      <p:pic>
        <p:nvPicPr>
          <p:cNvPr id="2" name="图片 63" descr="post_object_image_403549876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1692023" y="4640545"/>
            <a:ext cx="633499" cy="1792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9"/>
          <p:cNvSpPr/>
          <p:nvPr/>
        </p:nvSpPr>
        <p:spPr>
          <a:xfrm>
            <a:off x="3091579" y="5390606"/>
            <a:ext cx="2346751" cy="856366"/>
          </a:xfrm>
          <a:custGeom>
            <a:avLst/>
            <a:gdLst/>
            <a:ahLst/>
            <a:cxnLst/>
            <a:rect l="l" t="t" r="r" b="b"/>
            <a:pathLst>
              <a:path w="3552825" h="800100">
                <a:moveTo>
                  <a:pt x="3481627" y="800099"/>
                </a:moveTo>
                <a:lnTo>
                  <a:pt x="71196" y="800099"/>
                </a:lnTo>
                <a:lnTo>
                  <a:pt x="66241" y="799611"/>
                </a:lnTo>
                <a:lnTo>
                  <a:pt x="29705" y="784477"/>
                </a:lnTo>
                <a:lnTo>
                  <a:pt x="3885" y="748437"/>
                </a:lnTo>
                <a:lnTo>
                  <a:pt x="0" y="728903"/>
                </a:lnTo>
                <a:lnTo>
                  <a:pt x="0" y="7238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481627" y="0"/>
                </a:lnTo>
                <a:lnTo>
                  <a:pt x="3523118" y="15621"/>
                </a:lnTo>
                <a:lnTo>
                  <a:pt x="3548938" y="51661"/>
                </a:lnTo>
                <a:lnTo>
                  <a:pt x="3552824" y="71196"/>
                </a:lnTo>
                <a:lnTo>
                  <a:pt x="3552824" y="728903"/>
                </a:lnTo>
                <a:lnTo>
                  <a:pt x="3537202" y="770393"/>
                </a:lnTo>
                <a:lnTo>
                  <a:pt x="3501162" y="796213"/>
                </a:lnTo>
                <a:lnTo>
                  <a:pt x="3486583" y="799611"/>
                </a:lnTo>
                <a:lnTo>
                  <a:pt x="3481627" y="8000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p/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273050"/>
            <a:ext cx="758952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Feedback Script Quality</a:t>
            </a:r>
            <a:endParaRPr sz="2400" spc="-10" dirty="0"/>
          </a:p>
        </p:txBody>
      </p:sp>
      <p:sp>
        <p:nvSpPr>
          <p:cNvPr id="3" name="object 3"/>
          <p:cNvSpPr/>
          <p:nvPr/>
        </p:nvSpPr>
        <p:spPr>
          <a:xfrm>
            <a:off x="609599" y="800099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380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38099" y="0"/>
                </a:lnTo>
                <a:lnTo>
                  <a:pt x="38099" y="2285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999" y="809624"/>
            <a:ext cx="1162050" cy="200025"/>
          </a:xfrm>
          <a:custGeom>
            <a:avLst/>
            <a:gdLst/>
            <a:ahLst/>
            <a:cxnLst/>
            <a:rect l="l" t="t" r="r" b="b"/>
            <a:pathLst>
              <a:path w="1162050" h="200025">
                <a:moveTo>
                  <a:pt x="1129002" y="200024"/>
                </a:moveTo>
                <a:lnTo>
                  <a:pt x="33047" y="200024"/>
                </a:lnTo>
                <a:lnTo>
                  <a:pt x="28187" y="199058"/>
                </a:lnTo>
                <a:lnTo>
                  <a:pt x="966" y="171837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29002" y="0"/>
                </a:lnTo>
                <a:lnTo>
                  <a:pt x="1161083" y="28187"/>
                </a:lnTo>
                <a:lnTo>
                  <a:pt x="1162049" y="33047"/>
                </a:lnTo>
                <a:lnTo>
                  <a:pt x="1162049" y="166977"/>
                </a:lnTo>
                <a:lnTo>
                  <a:pt x="1133862" y="199058"/>
                </a:lnTo>
                <a:lnTo>
                  <a:pt x="1129002" y="200024"/>
                </a:lnTo>
                <a:close/>
              </a:path>
            </a:pathLst>
          </a:custGeom>
          <a:solidFill>
            <a:srgbClr val="FFE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96924" y="796925"/>
            <a:ext cx="5734715" cy="244504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United</a:t>
            </a:r>
            <a:r>
              <a:rPr sz="1200" b="1" spc="-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Airlines</a:t>
            </a:r>
            <a:r>
              <a:rPr sz="1200" b="1" spc="36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>
                <a:latin typeface="Arial" panose="020B0604020202020204" pitchFamily="34" charset="0"/>
                <a:cs typeface="Arial" panose="020B0604020202020204" pitchFamily="34" charset="0"/>
              </a:rPr>
              <a:t>provides the most comprehensive AI chat feedback invitation script.</a:t>
            </a:r>
            <a:endParaRPr lang="en-US" altLang="zh-C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98772" y="803274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380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38099" y="0"/>
                </a:lnTo>
                <a:lnTo>
                  <a:pt x="38099" y="2285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938472" y="800100"/>
            <a:ext cx="4281804" cy="38163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 </a:t>
            </a:r>
            <a:r>
              <a:rPr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lacks</a:t>
            </a:r>
            <a:r>
              <a:rPr sz="1200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proactive</a:t>
            </a:r>
            <a:r>
              <a:rPr sz="1200" spc="-5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cript</a:t>
            </a:r>
            <a:r>
              <a:rPr sz="1200" spc="-1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chat feedback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836247" y="3736179"/>
          <a:ext cx="5292725" cy="1177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935"/>
                <a:gridCol w="3780790"/>
              </a:tblGrid>
              <a:tr h="235585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  <a:endParaRPr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900" b="1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cripts</a:t>
                      </a:r>
                      <a:endParaRPr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900" b="1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urpose</a:t>
                      </a:r>
                      <a:endParaRPr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"T</a:t>
                      </a:r>
                      <a:r>
                        <a:rPr lang="en-US" altLang="zh-CN" sz="9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better assist our customers</a:t>
                      </a:r>
                      <a:r>
                        <a:rPr sz="900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</a:t>
                      </a:r>
                      <a:endParaRPr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zh-CN" sz="900" b="1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US" altLang="zh-C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"Y</a:t>
                      </a:r>
                      <a:r>
                        <a:rPr lang="en-US" altLang="zh-CN" sz="9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feedback is greatly valued</a:t>
                      </a:r>
                      <a:r>
                        <a:rPr sz="900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</a:t>
                      </a:r>
                      <a:endParaRPr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</a:tr>
              <a:tr h="235585">
                <a:tc>
                  <a:txBody>
                    <a:bodyPr/>
                    <a:p>
                      <a:pPr marL="80645" indent="0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b="1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Guidance</a:t>
                      </a:r>
                      <a:endParaRPr lang="zh-CN" altLang="en-US" sz="900" b="1" spc="-1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0645" indent="0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"If you'd like to skip the question, please click on 'Skip'</a:t>
                      </a:r>
                      <a:endParaRPr lang="en-US" altLang="zh-CN" sz="900" spc="-1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</a:tr>
              <a:tr h="235585">
                <a:tc>
                  <a:txBody>
                    <a:bodyPr/>
                    <a:p>
                      <a:pPr marL="80645" indent="0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b="1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Expectation</a:t>
                      </a:r>
                      <a:endParaRPr lang="zh-CN" altLang="en-US" sz="900" b="1" spc="-1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0645" indent="0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"We appreciate if you could answer the following X questions"</a:t>
                      </a:r>
                      <a:endParaRPr lang="en-US" altLang="zh-CN" sz="900" spc="-1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609600" y="1128020"/>
            <a:ext cx="24206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Practice: United</a:t>
            </a:r>
            <a:r>
              <a:rPr sz="1350" b="1" spc="-5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Airlines</a:t>
            </a:r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98764" y="3486451"/>
            <a:ext cx="3139557" cy="24972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Trip.com</a:t>
            </a:r>
            <a:r>
              <a:rPr sz="1350" b="1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Optimization</a:t>
            </a:r>
            <a:r>
              <a:rPr sz="1350" b="1" spc="-4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Suggestion</a:t>
            </a:r>
            <a:endParaRPr lang="en-US" altLang="zh-CN" sz="1350" b="1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3453" y="4451746"/>
            <a:ext cx="2346720" cy="856343"/>
          </a:xfrm>
          <a:custGeom>
            <a:avLst/>
            <a:gdLst/>
            <a:ahLst/>
            <a:cxnLst/>
            <a:rect l="l" t="t" r="r" b="b"/>
            <a:pathLst>
              <a:path w="3552825" h="800100">
                <a:moveTo>
                  <a:pt x="3481627" y="800099"/>
                </a:moveTo>
                <a:lnTo>
                  <a:pt x="71196" y="800099"/>
                </a:lnTo>
                <a:lnTo>
                  <a:pt x="66241" y="799611"/>
                </a:lnTo>
                <a:lnTo>
                  <a:pt x="29705" y="784477"/>
                </a:lnTo>
                <a:lnTo>
                  <a:pt x="3885" y="748437"/>
                </a:lnTo>
                <a:lnTo>
                  <a:pt x="0" y="728903"/>
                </a:lnTo>
                <a:lnTo>
                  <a:pt x="0" y="7238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481627" y="0"/>
                </a:lnTo>
                <a:lnTo>
                  <a:pt x="3523118" y="15621"/>
                </a:lnTo>
                <a:lnTo>
                  <a:pt x="3548938" y="51661"/>
                </a:lnTo>
                <a:lnTo>
                  <a:pt x="3552824" y="71196"/>
                </a:lnTo>
                <a:lnTo>
                  <a:pt x="3552824" y="728903"/>
                </a:lnTo>
                <a:lnTo>
                  <a:pt x="3537202" y="770393"/>
                </a:lnTo>
                <a:lnTo>
                  <a:pt x="3501162" y="796213"/>
                </a:lnTo>
                <a:lnTo>
                  <a:pt x="3486583" y="799611"/>
                </a:lnTo>
                <a:lnTo>
                  <a:pt x="3481627" y="8000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61468" y="4890616"/>
            <a:ext cx="2070685" cy="3111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Why customer feedback matters</a:t>
            </a:r>
            <a:endParaRPr lang="en-US" altLang="zh-C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图片 35" descr="post_object_image_727090538"/>
          <p:cNvPicPr>
            <a:picLocks noChangeAspect="1"/>
          </p:cNvPicPr>
          <p:nvPr/>
        </p:nvPicPr>
        <p:blipFill>
          <a:blip r:embed="rId1"/>
          <a:srcRect t="39352" r="30292" b="23643"/>
          <a:stretch>
            <a:fillRect/>
          </a:stretch>
        </p:blipFill>
        <p:spPr>
          <a:xfrm>
            <a:off x="384050" y="1607926"/>
            <a:ext cx="2578351" cy="2370582"/>
          </a:xfrm>
          <a:prstGeom prst="rect">
            <a:avLst/>
          </a:prstGeom>
        </p:spPr>
      </p:pic>
      <p:pic>
        <p:nvPicPr>
          <p:cNvPr id="37" name="图片 36" descr="post_object_image_1831847000"/>
          <p:cNvPicPr>
            <a:picLocks noChangeAspect="1"/>
          </p:cNvPicPr>
          <p:nvPr/>
        </p:nvPicPr>
        <p:blipFill>
          <a:blip r:embed="rId2"/>
          <a:srcRect t="35549" r="29210" b="25464"/>
          <a:stretch>
            <a:fillRect/>
          </a:stretch>
        </p:blipFill>
        <p:spPr>
          <a:xfrm>
            <a:off x="3063018" y="1658666"/>
            <a:ext cx="2584140" cy="2269187"/>
          </a:xfrm>
          <a:prstGeom prst="rect">
            <a:avLst/>
          </a:prstGeom>
        </p:spPr>
      </p:pic>
      <p:sp>
        <p:nvSpPr>
          <p:cNvPr id="39" name="矩形 38"/>
          <p:cNvSpPr/>
          <p:nvPr userDrawn="1"/>
        </p:nvSpPr>
        <p:spPr>
          <a:xfrm>
            <a:off x="3149982" y="1783915"/>
            <a:ext cx="2182812" cy="349618"/>
          </a:xfrm>
          <a:prstGeom prst="rect">
            <a:avLst/>
          </a:prstGeom>
          <a:noFill/>
          <a:ln w="1905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0" name="矩形 39"/>
          <p:cNvSpPr/>
          <p:nvPr userDrawn="1"/>
        </p:nvSpPr>
        <p:spPr>
          <a:xfrm>
            <a:off x="3149982" y="2614015"/>
            <a:ext cx="2182844" cy="358537"/>
          </a:xfrm>
          <a:prstGeom prst="rect">
            <a:avLst/>
          </a:prstGeom>
          <a:noFill/>
          <a:ln w="1905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15467" y="2685082"/>
            <a:ext cx="1583268" cy="216354"/>
          </a:xfrm>
          <a:prstGeom prst="rect">
            <a:avLst/>
          </a:prstGeom>
          <a:solidFill>
            <a:srgbClr val="E6F6FF"/>
          </a:solidFill>
        </p:spPr>
        <p:txBody>
          <a:bodyPr vert="horz" wrap="square" lIns="0" tIns="38100" rIns="0" bIns="0" rtlCol="0">
            <a:noAutofit/>
          </a:bodyPr>
          <a:lstStyle/>
          <a:p>
            <a:pPr marL="231775" indent="-127000">
              <a:lnSpc>
                <a:spcPct val="100000"/>
              </a:lnSpc>
              <a:spcBef>
                <a:spcPts val="300"/>
              </a:spcBef>
              <a:buClr>
                <a:srgbClr val="049569"/>
              </a:buClr>
              <a:buFont typeface="Arial" panose="020B0604020202020204" pitchFamily="34" charset="0"/>
              <a:buChar char="✓"/>
              <a:tabLst>
                <a:tab pos="231775" algn="l"/>
              </a:tabLst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guidance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81542" y="3256213"/>
            <a:ext cx="2192570" cy="344367"/>
          </a:xfrm>
          <a:prstGeom prst="rect">
            <a:avLst/>
          </a:prstGeom>
          <a:noFill/>
          <a:ln w="1905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8001" y="3440537"/>
            <a:ext cx="1332219" cy="217698"/>
          </a:xfrm>
          <a:prstGeom prst="rect">
            <a:avLst/>
          </a:prstGeom>
          <a:solidFill>
            <a:srgbClr val="E6F6FF"/>
          </a:solidFill>
        </p:spPr>
        <p:txBody>
          <a:bodyPr vert="horz" wrap="square" lIns="0" tIns="38100" rIns="0" bIns="0" rtlCol="0">
            <a:noAutofit/>
          </a:bodyPr>
          <a:lstStyle/>
          <a:p>
            <a:pPr marL="231775" indent="-127000">
              <a:lnSpc>
                <a:spcPct val="100000"/>
              </a:lnSpc>
              <a:spcBef>
                <a:spcPts val="300"/>
              </a:spcBef>
              <a:buClr>
                <a:srgbClr val="049569"/>
              </a:buClr>
              <a:buFont typeface="Arial" panose="020B0604020202020204" pitchFamily="34" charset="0"/>
              <a:buChar char="✓"/>
              <a:tabLst>
                <a:tab pos="231775" algn="l"/>
              </a:tabLst>
            </a:pPr>
            <a:r>
              <a:rPr lang="en-US" altLang="zh-CN"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expression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图片 44" descr="post_object_image_29953298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308" y="1961322"/>
            <a:ext cx="3471938" cy="1389573"/>
          </a:xfrm>
          <a:prstGeom prst="rect">
            <a:avLst/>
          </a:prstGeom>
          <a:noFill/>
          <a:effectLst>
            <a:outerShdw blurRad="114300" dist="63500" dir="2700000" algn="tl" rotWithShape="0">
              <a:srgbClr val="000000">
                <a:alpha val="30000"/>
              </a:srgbClr>
            </a:outerShdw>
          </a:effectLst>
        </p:spPr>
      </p:pic>
      <p:pic>
        <p:nvPicPr>
          <p:cNvPr id="46" name="图片 45" descr="post_object_image_27386342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346" y="1359112"/>
            <a:ext cx="3471930" cy="1081469"/>
          </a:xfrm>
          <a:prstGeom prst="rect">
            <a:avLst/>
          </a:prstGeom>
          <a:effectLst>
            <a:outerShdw blurRad="114300" dist="635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21" name="文本框 20"/>
          <p:cNvSpPr txBox="1"/>
          <p:nvPr/>
        </p:nvSpPr>
        <p:spPr>
          <a:xfrm>
            <a:off x="214908" y="6622547"/>
            <a:ext cx="9557808" cy="216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Bef>
                <a:spcPts val="100"/>
              </a:spcBef>
            </a:pPr>
            <a:r>
              <a:rPr sz="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Script </a:t>
            </a:r>
            <a:r>
              <a:rPr sz="800" b="1" spc="-1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Completeness</a:t>
            </a:r>
            <a:r>
              <a:rPr lang="en-US" altLang="zh-CN" sz="800" b="1" spc="-1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zh-CN" sz="80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Complete</a:t>
            </a:r>
            <a:r>
              <a:rPr lang="en-US" altLang="zh-CN" sz="800" b="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(1): United Airlines;</a:t>
            </a:r>
            <a:r>
              <a:rPr lang="en-US" altLang="zh-CN" sz="8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80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Simple</a:t>
            </a:r>
            <a:r>
              <a:rPr lang="en-US" altLang="zh-CN" sz="800" b="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(3); </a:t>
            </a:r>
            <a:r>
              <a:rPr lang="en-US" altLang="zh-CN" sz="800" b="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Agoda, Expedia, Cathay Pacific; </a:t>
            </a:r>
            <a:r>
              <a:rPr lang="en-US" altLang="zh-CN" sz="800" b="1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None</a:t>
            </a:r>
            <a:r>
              <a:rPr lang="en-US" altLang="zh-CN" sz="800" b="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(3): British Airways, Singapore Airlines, Trip.com</a:t>
            </a:r>
            <a:endParaRPr lang="en-US" altLang="zh-CN" sz="800" b="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38" name="object 22"/>
          <p:cNvGraphicFramePr>
            <a:graphicFrameLocks noGrp="1"/>
          </p:cNvGraphicFramePr>
          <p:nvPr/>
        </p:nvGraphicFramePr>
        <p:xfrm>
          <a:off x="6836247" y="4953307"/>
          <a:ext cx="5295900" cy="1215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8920"/>
                <a:gridCol w="3776980"/>
              </a:tblGrid>
              <a:tr h="198755">
                <a:tc>
                  <a:txBody>
                    <a:bodyPr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00" b="1" spc="-1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CN" sz="900" b="1" spc="-1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cenarios</a:t>
                      </a:r>
                      <a:endParaRPr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3364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marL="819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zh-CN" sz="900" b="1" spc="-1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Scripts</a:t>
                      </a:r>
                      <a:endParaRPr sz="9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3364FF">
                        <a:alpha val="100000"/>
                      </a:srgbClr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zh-CN" sz="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Before human transfer</a:t>
                      </a:r>
                      <a:endParaRPr lang="en-US" altLang="zh-CN" sz="9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1915" indent="0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"Connecting to human service...</a:t>
                      </a:r>
                      <a:endParaRPr lang="en-US" altLang="zh-CN" sz="90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1915" indent="0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Could you please provide a quick rating of our AI assistant"</a:t>
                      </a:r>
                      <a:endParaRPr lang="en-US" altLang="zh-CN" sz="90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</a:tr>
              <a:tr h="374015">
                <a:tc>
                  <a:txBody>
                    <a:bodyPr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zh-CN" sz="900" b="1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Conversation end (AI)</a:t>
                      </a:r>
                      <a:endParaRPr lang="en-US" altLang="zh-CN" sz="900" b="1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en-US" altLang="zh-CN" sz="900" b="1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1915" indent="0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"Thank you for choosing Trip.com!</a:t>
                      </a:r>
                      <a:endParaRPr lang="en-US" altLang="zh-CN" sz="90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1915" indent="0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 invite you to rate this experience. Your feedback helps us improve."</a:t>
                      </a:r>
                      <a:endParaRPr lang="en-US" altLang="zh-CN" sz="90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</a:tr>
              <a:tr h="268605">
                <a:tc>
                  <a:txBody>
                    <a:bodyPr/>
                    <a:p>
                      <a:pPr marL="80645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altLang="zh-CN" sz="900" b="1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Conversation end (human)</a:t>
                      </a:r>
                      <a:endParaRPr lang="en-US" altLang="zh-CN" sz="900" b="1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1915" indent="0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"We appreciate your feedback!</a:t>
                      </a:r>
                      <a:endParaRPr lang="en-US" altLang="zh-CN" sz="90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1915" indent="0" rtl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90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 you mind sharing more thoughts to help us improve?" (For NPS)</a:t>
                      </a:r>
                      <a:endParaRPr lang="en-US" altLang="zh-CN" sz="900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1594" marB="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49" name="直接连接符 48"/>
          <p:cNvCxnSpPr/>
          <p:nvPr userDrawn="1"/>
        </p:nvCxnSpPr>
        <p:spPr>
          <a:xfrm>
            <a:off x="39080" y="6555772"/>
            <a:ext cx="11936095" cy="0"/>
          </a:xfrm>
          <a:prstGeom prst="line">
            <a:avLst/>
          </a:prstGeom>
          <a:ln w="1270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object 29"/>
          <p:cNvSpPr/>
          <p:nvPr/>
        </p:nvSpPr>
        <p:spPr>
          <a:xfrm>
            <a:off x="523435" y="5390606"/>
            <a:ext cx="2346751" cy="856366"/>
          </a:xfrm>
          <a:custGeom>
            <a:avLst/>
            <a:gdLst/>
            <a:ahLst/>
            <a:cxnLst/>
            <a:rect l="l" t="t" r="r" b="b"/>
            <a:pathLst>
              <a:path w="3552825" h="800100">
                <a:moveTo>
                  <a:pt x="3481627" y="800099"/>
                </a:moveTo>
                <a:lnTo>
                  <a:pt x="71196" y="800099"/>
                </a:lnTo>
                <a:lnTo>
                  <a:pt x="66241" y="799611"/>
                </a:lnTo>
                <a:lnTo>
                  <a:pt x="29705" y="784477"/>
                </a:lnTo>
                <a:lnTo>
                  <a:pt x="3885" y="748437"/>
                </a:lnTo>
                <a:lnTo>
                  <a:pt x="0" y="728903"/>
                </a:lnTo>
                <a:lnTo>
                  <a:pt x="0" y="7238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481627" y="0"/>
                </a:lnTo>
                <a:lnTo>
                  <a:pt x="3523118" y="15621"/>
                </a:lnTo>
                <a:lnTo>
                  <a:pt x="3548938" y="51661"/>
                </a:lnTo>
                <a:lnTo>
                  <a:pt x="3552824" y="71196"/>
                </a:lnTo>
                <a:lnTo>
                  <a:pt x="3552824" y="728903"/>
                </a:lnTo>
                <a:lnTo>
                  <a:pt x="3537202" y="770393"/>
                </a:lnTo>
                <a:lnTo>
                  <a:pt x="3501162" y="796213"/>
                </a:lnTo>
                <a:lnTo>
                  <a:pt x="3486583" y="799611"/>
                </a:lnTo>
                <a:lnTo>
                  <a:pt x="3481627" y="8000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p/>
        </p:txBody>
      </p:sp>
      <p:sp>
        <p:nvSpPr>
          <p:cNvPr id="52" name="object 30"/>
          <p:cNvSpPr txBox="1"/>
          <p:nvPr/>
        </p:nvSpPr>
        <p:spPr>
          <a:xfrm>
            <a:off x="3493671" y="5781806"/>
            <a:ext cx="1518112" cy="465166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p>
            <a:pPr marL="12700">
              <a:lnSpc>
                <a:spcPct val="120000"/>
              </a:lnSpc>
              <a:spcBef>
                <a:spcPts val="15"/>
              </a:spcBef>
            </a:pP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Indicate the importance of user's survey participation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bject 29"/>
          <p:cNvSpPr/>
          <p:nvPr/>
        </p:nvSpPr>
        <p:spPr>
          <a:xfrm>
            <a:off x="3091554" y="4451713"/>
            <a:ext cx="2346782" cy="856366"/>
          </a:xfrm>
          <a:custGeom>
            <a:avLst/>
            <a:gdLst/>
            <a:ahLst/>
            <a:cxnLst/>
            <a:rect l="l" t="t" r="r" b="b"/>
            <a:pathLst>
              <a:path w="3552825" h="800100">
                <a:moveTo>
                  <a:pt x="3481627" y="800099"/>
                </a:moveTo>
                <a:lnTo>
                  <a:pt x="71196" y="800099"/>
                </a:lnTo>
                <a:lnTo>
                  <a:pt x="66241" y="799611"/>
                </a:lnTo>
                <a:lnTo>
                  <a:pt x="29705" y="784477"/>
                </a:lnTo>
                <a:lnTo>
                  <a:pt x="3885" y="748437"/>
                </a:lnTo>
                <a:lnTo>
                  <a:pt x="0" y="728903"/>
                </a:lnTo>
                <a:lnTo>
                  <a:pt x="0" y="7238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481627" y="0"/>
                </a:lnTo>
                <a:lnTo>
                  <a:pt x="3523118" y="15621"/>
                </a:lnTo>
                <a:lnTo>
                  <a:pt x="3548938" y="51661"/>
                </a:lnTo>
                <a:lnTo>
                  <a:pt x="3552824" y="71196"/>
                </a:lnTo>
                <a:lnTo>
                  <a:pt x="3552824" y="728903"/>
                </a:lnTo>
                <a:lnTo>
                  <a:pt x="3537202" y="770393"/>
                </a:lnTo>
                <a:lnTo>
                  <a:pt x="3501162" y="796213"/>
                </a:lnTo>
                <a:lnTo>
                  <a:pt x="3486583" y="799611"/>
                </a:lnTo>
                <a:lnTo>
                  <a:pt x="3481627" y="8000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p/>
        </p:txBody>
      </p:sp>
      <p:sp>
        <p:nvSpPr>
          <p:cNvPr id="54" name="object 30"/>
          <p:cNvSpPr txBox="1"/>
          <p:nvPr/>
        </p:nvSpPr>
        <p:spPr>
          <a:xfrm>
            <a:off x="3392721" y="4562189"/>
            <a:ext cx="1744447" cy="25553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rtl="0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  <a:buNone/>
            </a:pPr>
            <a:r>
              <a:rPr lang="en-US" altLang="zh-CN" sz="120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Guidance</a:t>
            </a:r>
            <a:endParaRPr lang="en-US" altLang="zh-CN" sz="1200" b="1" spc="-10" dirty="0">
              <a:solidFill>
                <a:srgbClr val="3364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15467" y="1783927"/>
            <a:ext cx="1583267" cy="228599"/>
          </a:xfrm>
          <a:prstGeom prst="rect">
            <a:avLst/>
          </a:prstGeom>
          <a:solidFill>
            <a:srgbClr val="E6F6FF"/>
          </a:solidFill>
        </p:spPr>
        <p:txBody>
          <a:bodyPr vert="horz" wrap="square" lIns="0" tIns="38100" rIns="0" bIns="0" rtlCol="0">
            <a:noAutofit/>
          </a:bodyPr>
          <a:lstStyle/>
          <a:p>
            <a:pPr marL="231775" indent="-127000">
              <a:lnSpc>
                <a:spcPct val="100000"/>
              </a:lnSpc>
              <a:spcBef>
                <a:spcPts val="300"/>
              </a:spcBef>
              <a:buClr>
                <a:srgbClr val="049569"/>
              </a:buClr>
              <a:buFont typeface="Arial" panose="020B0604020202020204" pitchFamily="34" charset="0"/>
              <a:buChar char="✓"/>
              <a:tabLst>
                <a:tab pos="231775" algn="l"/>
              </a:tabLst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explanation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81542" y="4133787"/>
            <a:ext cx="3238500" cy="300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Bef>
                <a:spcPts val="100"/>
              </a:spcBef>
            </a:pPr>
            <a:r>
              <a:rPr lang="en-US" altLang="zh-CN"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Good</a:t>
            </a: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Script 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Elements</a:t>
            </a:r>
            <a:endParaRPr lang="en-US" altLang="zh-CN" sz="1350" b="1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6" name="文本框 55"/>
          <p:cNvSpPr txBox="1"/>
          <p:nvPr userDrawn="1"/>
        </p:nvSpPr>
        <p:spPr>
          <a:xfrm>
            <a:off x="481575" y="1359122"/>
            <a:ext cx="2480806" cy="299553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800" i="0">
                <a:solidFill>
                  <a:schemeClr val="bg1">
                    <a:lumMod val="50000"/>
                  </a:schemeClr>
                </a:solidFill>
              </a:rPr>
              <a:t>(Script triger time: After AI conversation end, before entering Human chat)</a:t>
            </a:r>
            <a:endParaRPr lang="zh-CN" altLang="en-US" sz="800" i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030189" y="1390737"/>
            <a:ext cx="2336223" cy="217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i="0">
                <a:solidFill>
                  <a:schemeClr val="bg1">
                    <a:lumMod val="50000"/>
                  </a:schemeClr>
                </a:solidFill>
                <a:sym typeface="+mn-ea"/>
              </a:rPr>
              <a:t>(Script triger time: After AI </a:t>
            </a:r>
            <a:r>
              <a:rPr lang="en-US" altLang="zh-CN" sz="800" i="0">
                <a:solidFill>
                  <a:schemeClr val="bg1">
                    <a:lumMod val="50000"/>
                  </a:schemeClr>
                </a:solidFill>
                <a:sym typeface="+mn-ea"/>
              </a:rPr>
              <a:t>conversation ends)</a:t>
            </a:r>
            <a:endParaRPr lang="en-US" altLang="zh-CN" sz="800" i="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63843" y="5485448"/>
            <a:ext cx="2116282" cy="29636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rtl="0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  <a:buNone/>
            </a:pPr>
            <a:r>
              <a:rPr lang="en-US" altLang="zh-CN" sz="120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Expectation Management</a:t>
            </a:r>
            <a:endParaRPr lang="en-US" altLang="zh-CN" sz="1200" b="1" spc="-10" dirty="0">
              <a:solidFill>
                <a:srgbClr val="3364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62000" y="4505325"/>
            <a:ext cx="1762125" cy="312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  <a:spcBef>
                <a:spcPts val="100"/>
              </a:spcBef>
            </a:pPr>
            <a:r>
              <a:rPr lang="en-US" altLang="zh-CN" sz="120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Purpose Explanation</a:t>
            </a:r>
            <a:endParaRPr lang="en-US" altLang="zh-CN" sz="1200" b="1" spc="-10" dirty="0">
              <a:solidFill>
                <a:srgbClr val="3364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452538" y="4890611"/>
            <a:ext cx="1577753" cy="31908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How to complete or skip</a:t>
            </a:r>
            <a:endParaRPr lang="en-US" altLang="zh-CN" sz="10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4" name="object 28"/>
          <p:cNvSpPr txBox="1"/>
          <p:nvPr/>
        </p:nvSpPr>
        <p:spPr>
          <a:xfrm>
            <a:off x="6759575" y="1127972"/>
            <a:ext cx="1989058" cy="23114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</a:t>
            </a:r>
            <a:r>
              <a:rPr sz="1350" b="1" spc="-8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 Quo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27"/>
          <p:cNvSpPr txBox="1"/>
          <p:nvPr/>
        </p:nvSpPr>
        <p:spPr>
          <a:xfrm>
            <a:off x="10719010" y="1838420"/>
            <a:ext cx="1117601" cy="373602"/>
          </a:xfrm>
          <a:prstGeom prst="rect">
            <a:avLst/>
          </a:prstGeom>
          <a:solidFill>
            <a:schemeClr val="accent6">
              <a:lumMod val="20000"/>
              <a:lumOff val="80000"/>
              <a:alpha val="100000"/>
            </a:schemeClr>
          </a:solidFill>
        </p:spPr>
        <p:txBody>
          <a:bodyPr vert="horz" wrap="square" lIns="0" tIns="38100" rIns="0" bIns="0" rtlCol="0">
            <a:noAutofit/>
          </a:bodyPr>
          <a:p>
            <a:pPr marL="104775" indent="0">
              <a:lnSpc>
                <a:spcPct val="100000"/>
              </a:lnSpc>
              <a:spcBef>
                <a:spcPts val="300"/>
              </a:spcBef>
              <a:buClr>
                <a:srgbClr val="049569"/>
              </a:buClr>
              <a:buNone/>
              <a:tabLst>
                <a:tab pos="231775" algn="l"/>
              </a:tabLst>
            </a:pPr>
            <a:r>
              <a:rPr lang="en-US" altLang="zh-CN"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scripts before any surveys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38"/>
          <p:cNvSpPr/>
          <p:nvPr userDrawn="1"/>
        </p:nvSpPr>
        <p:spPr>
          <a:xfrm>
            <a:off x="3149954" y="2169834"/>
            <a:ext cx="2182812" cy="270743"/>
          </a:xfrm>
          <a:prstGeom prst="rect">
            <a:avLst/>
          </a:prstGeom>
          <a:noFill/>
          <a:ln w="19050" cap="flat" cmpd="sng" algn="ctr">
            <a:solidFill>
              <a:srgbClr val="FFFF0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object 25"/>
          <p:cNvSpPr txBox="1"/>
          <p:nvPr/>
        </p:nvSpPr>
        <p:spPr>
          <a:xfrm>
            <a:off x="5215466" y="2212024"/>
            <a:ext cx="1583267" cy="228599"/>
          </a:xfrm>
          <a:prstGeom prst="rect">
            <a:avLst/>
          </a:prstGeom>
          <a:solidFill>
            <a:srgbClr val="E6F6FF"/>
          </a:solidFill>
        </p:spPr>
        <p:txBody>
          <a:bodyPr vert="horz" wrap="square" lIns="0" tIns="38100" rIns="0" bIns="0" rtlCol="0">
            <a:noAutofit/>
          </a:bodyPr>
          <a:p>
            <a:pPr marL="231775" indent="-127000">
              <a:lnSpc>
                <a:spcPct val="100000"/>
              </a:lnSpc>
              <a:spcBef>
                <a:spcPts val="300"/>
              </a:spcBef>
              <a:buClr>
                <a:srgbClr val="049569"/>
              </a:buClr>
              <a:buFont typeface="Arial" panose="020B0604020202020204" pitchFamily="34" charset="0"/>
              <a:buChar char="✓"/>
              <a:tabLst>
                <a:tab pos="231775" algn="l"/>
              </a:tabLst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xpectation set up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27"/>
          <p:cNvSpPr txBox="1"/>
          <p:nvPr/>
        </p:nvSpPr>
        <p:spPr>
          <a:xfrm>
            <a:off x="10719012" y="2756187"/>
            <a:ext cx="1117600" cy="362254"/>
          </a:xfrm>
          <a:prstGeom prst="rect">
            <a:avLst/>
          </a:prstGeom>
          <a:solidFill>
            <a:schemeClr val="accent6">
              <a:lumMod val="20000"/>
              <a:lumOff val="80000"/>
              <a:alpha val="100000"/>
            </a:schemeClr>
          </a:solidFill>
        </p:spPr>
        <p:txBody>
          <a:bodyPr vert="horz" wrap="square" lIns="0" tIns="38100" rIns="0" bIns="0" rtlCol="0">
            <a:noAutofit/>
          </a:bodyPr>
          <a:p>
            <a:pPr marL="104775" indent="0">
              <a:lnSpc>
                <a:spcPct val="100000"/>
              </a:lnSpc>
              <a:spcBef>
                <a:spcPts val="300"/>
              </a:spcBef>
              <a:buClr>
                <a:srgbClr val="049569"/>
              </a:buClr>
              <a:buNone/>
              <a:tabLst>
                <a:tab pos="231775" algn="l"/>
              </a:tabLst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CN"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lunt tone within survey window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56"/>
          <p:cNvSpPr txBox="1"/>
          <p:nvPr/>
        </p:nvSpPr>
        <p:spPr>
          <a:xfrm>
            <a:off x="10553277" y="1359112"/>
            <a:ext cx="1529397" cy="231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i="0">
                <a:solidFill>
                  <a:schemeClr val="bg1">
                    <a:lumMod val="50000"/>
                  </a:schemeClr>
                </a:solidFill>
                <a:sym typeface="+mn-ea"/>
              </a:rPr>
              <a:t>(Before </a:t>
            </a:r>
            <a:r>
              <a:rPr lang="en-US" altLang="zh-CN" sz="800" i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  <a:sym typeface="+mn-ea"/>
              </a:rPr>
              <a:t>entering human chat)</a:t>
            </a:r>
            <a:endParaRPr lang="en-US" altLang="zh-CN">
              <a:sym typeface="+mn-ea"/>
            </a:endParaRPr>
          </a:p>
        </p:txBody>
      </p:sp>
      <p:sp>
        <p:nvSpPr>
          <p:cNvPr id="14" name="文本框 56"/>
          <p:cNvSpPr txBox="1"/>
          <p:nvPr/>
        </p:nvSpPr>
        <p:spPr>
          <a:xfrm>
            <a:off x="10553277" y="2382838"/>
            <a:ext cx="1529397" cy="231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i="0">
                <a:solidFill>
                  <a:schemeClr val="bg1">
                    <a:lumMod val="50000"/>
                  </a:schemeClr>
                </a:solidFill>
                <a:sym typeface="+mn-ea"/>
              </a:rPr>
              <a:t>(</a:t>
            </a:r>
            <a:r>
              <a:rPr lang="en-US" altLang="zh-CN" sz="800" i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  <a:sym typeface="+mn-ea"/>
              </a:rPr>
              <a:t>After AI Conversation ends)</a:t>
            </a:r>
            <a:endParaRPr lang="en-US" altLang="zh-CN">
              <a:sym typeface="+mn-ea"/>
            </a:endParaRPr>
          </a:p>
        </p:txBody>
      </p:sp>
      <p:sp>
        <p:nvSpPr>
          <p:cNvPr id="17" name="文本框 57"/>
          <p:cNvSpPr txBox="1"/>
          <p:nvPr/>
        </p:nvSpPr>
        <p:spPr>
          <a:xfrm>
            <a:off x="3493702" y="5485475"/>
            <a:ext cx="1517568" cy="35862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rtl="0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  <a:buNone/>
            </a:pPr>
            <a:r>
              <a:rPr lang="en-US" altLang="zh-CN" sz="1200" b="1" spc="-10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Value Expression</a:t>
            </a:r>
            <a:endParaRPr lang="en-US" altLang="zh-CN" sz="1200" b="1" spc="-10" dirty="0">
              <a:solidFill>
                <a:srgbClr val="3364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796902" y="5844132"/>
            <a:ext cx="1577753" cy="31908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Clarify question count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641844" y="224494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object 2"/>
          <p:cNvGrpSpPr/>
          <p:nvPr/>
        </p:nvGrpSpPr>
        <p:grpSpPr>
          <a:xfrm>
            <a:off x="500033" y="5835361"/>
            <a:ext cx="11280363" cy="829380"/>
            <a:chOff x="481753" y="5474598"/>
            <a:chExt cx="11100646" cy="829380"/>
          </a:xfrm>
        </p:grpSpPr>
        <p:sp>
          <p:nvSpPr>
            <p:cNvPr id="67" name="object 3"/>
            <p:cNvSpPr/>
            <p:nvPr/>
          </p:nvSpPr>
          <p:spPr>
            <a:xfrm>
              <a:off x="481753" y="5474598"/>
              <a:ext cx="11100646" cy="829380"/>
            </a:xfrm>
            <a:custGeom>
              <a:avLst/>
              <a:gdLst/>
              <a:ahLst/>
              <a:cxnLst/>
              <a:rect l="l" t="t" r="r" b="b"/>
              <a:pathLst>
                <a:path w="10972800" h="800100">
                  <a:moveTo>
                    <a:pt x="10901602" y="800099"/>
                  </a:moveTo>
                  <a:lnTo>
                    <a:pt x="71196" y="800099"/>
                  </a:lnTo>
                  <a:lnTo>
                    <a:pt x="66241" y="799611"/>
                  </a:lnTo>
                  <a:lnTo>
                    <a:pt x="29705" y="784477"/>
                  </a:lnTo>
                  <a:lnTo>
                    <a:pt x="3885" y="748436"/>
                  </a:lnTo>
                  <a:lnTo>
                    <a:pt x="0" y="728903"/>
                  </a:lnTo>
                  <a:lnTo>
                    <a:pt x="0" y="7238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0901602" y="0"/>
                  </a:lnTo>
                  <a:lnTo>
                    <a:pt x="10943091" y="15621"/>
                  </a:lnTo>
                  <a:lnTo>
                    <a:pt x="10968911" y="51661"/>
                  </a:lnTo>
                  <a:lnTo>
                    <a:pt x="10972798" y="71196"/>
                  </a:lnTo>
                  <a:lnTo>
                    <a:pt x="10972798" y="728903"/>
                  </a:lnTo>
                  <a:lnTo>
                    <a:pt x="10957175" y="770393"/>
                  </a:lnTo>
                  <a:lnTo>
                    <a:pt x="10921136" y="796212"/>
                  </a:lnTo>
                  <a:lnTo>
                    <a:pt x="10906556" y="799611"/>
                  </a:lnTo>
                  <a:lnTo>
                    <a:pt x="10901602" y="8000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p/>
          </p:txBody>
        </p:sp>
        <p:pic>
          <p:nvPicPr>
            <p:cNvPr id="6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5785" y="5728378"/>
              <a:ext cx="133349" cy="133349"/>
            </a:xfrm>
            <a:prstGeom prst="rect">
              <a:avLst/>
            </a:prstGeom>
          </p:spPr>
        </p:pic>
        <p:pic>
          <p:nvPicPr>
            <p:cNvPr id="70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5785" y="5951787"/>
              <a:ext cx="133349" cy="1333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6899" y="215900"/>
            <a:ext cx="858774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Survey </a:t>
            </a:r>
            <a:r>
              <a:rPr sz="2400" dirty="0">
                <a:solidFill>
                  <a:srgbClr val="1F2937"/>
                </a:solidFill>
              </a:rPr>
              <a:t>C</a:t>
            </a:r>
            <a:r>
              <a:rPr lang="en-US" altLang="zh-CN" sz="2400" dirty="0">
                <a:solidFill>
                  <a:srgbClr val="1F2937"/>
                </a:solidFill>
              </a:rPr>
              <a:t>ontent</a:t>
            </a:r>
            <a:endParaRPr lang="en-US" altLang="zh-CN" sz="2400" dirty="0">
              <a:solidFill>
                <a:srgbClr val="1F2937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8044" y="865476"/>
            <a:ext cx="42311" cy="250389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099" y="457199"/>
                </a:moveTo>
                <a:lnTo>
                  <a:pt x="0" y="457199"/>
                </a:lnTo>
                <a:lnTo>
                  <a:pt x="0" y="0"/>
                </a:lnTo>
                <a:lnTo>
                  <a:pt x="38099" y="0"/>
                </a:lnTo>
                <a:lnTo>
                  <a:pt x="38099" y="4571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Text Box 11"/>
          <p:cNvSpPr txBox="1"/>
          <p:nvPr/>
        </p:nvSpPr>
        <p:spPr>
          <a:xfrm>
            <a:off x="711137" y="865422"/>
            <a:ext cx="11439706" cy="2504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/>
              <a:t>Current CSAT content is effective (3 core questions cover key metrics)</a:t>
            </a:r>
            <a:endParaRPr lang="en-US" altLang="zh-CN" sz="1200"/>
          </a:p>
        </p:txBody>
      </p:sp>
      <p:sp>
        <p:nvSpPr>
          <p:cNvPr id="52" name="object 25"/>
          <p:cNvSpPr txBox="1"/>
          <p:nvPr/>
        </p:nvSpPr>
        <p:spPr>
          <a:xfrm>
            <a:off x="588050" y="1319955"/>
            <a:ext cx="5359400" cy="24259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r>
              <a:rPr sz="1400" b="1" spc="-6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dirty="0">
                <a:solidFill>
                  <a:srgbClr val="3364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</a:t>
            </a:r>
            <a:r>
              <a:rPr sz="1400" b="1" spc="-6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n-US" altLang="zh-CN" sz="14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mparison</a:t>
            </a:r>
            <a:endParaRPr lang="en-US" altLang="zh-CN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object 48"/>
          <p:cNvSpPr txBox="1"/>
          <p:nvPr/>
        </p:nvSpPr>
        <p:spPr>
          <a:xfrm>
            <a:off x="753687" y="5928800"/>
            <a:ext cx="11278234" cy="688009"/>
          </a:xfrm>
          <a:prstGeom prst="rect">
            <a:avLst/>
          </a:prstGeom>
        </p:spPr>
        <p:txBody>
          <a:bodyPr vert="horz" wrap="square" lIns="0" tIns="108585" rIns="0" bIns="0" rtlCol="0">
            <a:noAutofit/>
          </a:bodyPr>
          <a:p>
            <a:pPr marL="183515" marR="5080">
              <a:lnSpc>
                <a:spcPct val="119000"/>
              </a:lnSpc>
              <a:spcBef>
                <a:spcPts val="420"/>
              </a:spcBef>
            </a:pPr>
            <a:r>
              <a:rPr lang="en-US" altLang="zh-CN" sz="1050">
                <a:latin typeface="Arial" panose="020B0604020202020204" pitchFamily="34" charset="0"/>
                <a:cs typeface="Arial" panose="020B0604020202020204" pitchFamily="34" charset="0"/>
              </a:rPr>
              <a:t>Reprioritize critical feedback: </a:t>
            </a:r>
            <a:r>
              <a:rPr lang="en-US" altLang="zh-CN" sz="1050" b="1">
                <a:latin typeface="Arial" panose="020B0604020202020204" pitchFamily="34" charset="0"/>
                <a:cs typeface="Arial" panose="020B0604020202020204" pitchFamily="34" charset="0"/>
              </a:rPr>
              <a:t>Move "Issue resolved?" to start</a:t>
            </a:r>
            <a:r>
              <a:rPr lang="en-US" altLang="zh-CN" sz="1050">
                <a:latin typeface="Arial" panose="020B0604020202020204" pitchFamily="34" charset="0"/>
                <a:cs typeface="Arial" panose="020B0604020202020204" pitchFamily="34" charset="0"/>
              </a:rPr>
              <a:t>. If no, auto-flag for human agent post-survey to guarantee issue resolution while preserving chatbot interaction fluency. </a:t>
            </a:r>
            <a:endParaRPr lang="en-US" altLang="zh-CN" sz="1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3515" marR="5080">
              <a:lnSpc>
                <a:spcPct val="119000"/>
              </a:lnSpc>
              <a:spcBef>
                <a:spcPts val="420"/>
              </a:spcBef>
            </a:pPr>
            <a:r>
              <a:rPr lang="en-US" altLang="zh-CN" sz="1050">
                <a:latin typeface="Arial" panose="020B0604020202020204" pitchFamily="34" charset="0"/>
                <a:cs typeface="Arial" panose="020B0604020202020204" pitchFamily="34" charset="0"/>
              </a:rPr>
              <a:t>Reduce friction: Add a</a:t>
            </a:r>
            <a:r>
              <a:rPr lang="en-US" altLang="zh-CN" sz="1050" b="1">
                <a:latin typeface="Arial" panose="020B0604020202020204" pitchFamily="34" charset="0"/>
                <a:cs typeface="Arial" panose="020B0604020202020204" pitchFamily="34" charset="0"/>
              </a:rPr>
              <a:t> skip </a:t>
            </a:r>
            <a:r>
              <a:rPr lang="en-US" altLang="zh-CN" sz="1050">
                <a:latin typeface="Arial" panose="020B0604020202020204" pitchFamily="34" charset="0"/>
                <a:cs typeface="Arial" panose="020B0604020202020204" pitchFamily="34" charset="0"/>
              </a:rPr>
              <a:t>option to the CSAT flow to minimize user disruption.</a:t>
            </a:r>
            <a:endParaRPr lang="en-US" altLang="zh-CN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Box 70"/>
          <p:cNvSpPr txBox="1"/>
          <p:nvPr/>
        </p:nvSpPr>
        <p:spPr>
          <a:xfrm>
            <a:off x="842863" y="1922641"/>
            <a:ext cx="2576513" cy="51989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CSAT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Issue resolution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Reasons for rating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72" name="图片 61" descr="post_object_image_24564953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354" y="1716369"/>
            <a:ext cx="854306" cy="218638"/>
          </a:xfrm>
          <a:prstGeom prst="rect">
            <a:avLst/>
          </a:prstGeom>
        </p:spPr>
      </p:pic>
      <p:pic>
        <p:nvPicPr>
          <p:cNvPr id="73" name="图片 63" descr="post_object_image_4035498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52" y="1716369"/>
            <a:ext cx="772511" cy="218635"/>
          </a:xfrm>
          <a:prstGeom prst="rect">
            <a:avLst/>
          </a:prstGeom>
        </p:spPr>
      </p:pic>
      <p:pic>
        <p:nvPicPr>
          <p:cNvPr id="74" name="Picture 73" descr="post_object_image_3271088168"/>
          <p:cNvPicPr>
            <a:picLocks noChangeAspect="1"/>
          </p:cNvPicPr>
          <p:nvPr/>
        </p:nvPicPr>
        <p:blipFill>
          <a:blip r:embed="rId4"/>
          <a:srcRect l="15181" t="9177" r="15181" b="10913"/>
          <a:stretch>
            <a:fillRect/>
          </a:stretch>
        </p:blipFill>
        <p:spPr>
          <a:xfrm>
            <a:off x="538056" y="2627154"/>
            <a:ext cx="2264569" cy="2065810"/>
          </a:xfrm>
          <a:prstGeom prst="rect">
            <a:avLst/>
          </a:prstGeom>
          <a:effectLst>
            <a:outerShdw blurRad="190500" dist="63500" dir="2700000" sx="99000" sy="99000" algn="tl" rotWithShape="0">
              <a:srgbClr val="000000">
                <a:alpha val="23000"/>
              </a:srgbClr>
            </a:outerShdw>
          </a:effectLst>
        </p:spPr>
      </p:pic>
      <p:sp>
        <p:nvSpPr>
          <p:cNvPr id="75" name="Text Box 74"/>
          <p:cNvSpPr txBox="1"/>
          <p:nvPr/>
        </p:nvSpPr>
        <p:spPr>
          <a:xfrm>
            <a:off x="2984650" y="1913332"/>
            <a:ext cx="1477685" cy="4676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Issue resolution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NPS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</a:t>
            </a: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pen feedback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76" name="Picture 75" descr="post_object_image_35400936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280" y="2627110"/>
            <a:ext cx="1400156" cy="2538413"/>
          </a:xfrm>
          <a:prstGeom prst="rect">
            <a:avLst/>
          </a:prstGeom>
          <a:effectLst>
            <a:outerShdw blurRad="190500" dist="63500" dir="2700000" sx="99000" sy="99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77" name="Picture 76" descr="post_object_image_41764331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408" y="2627110"/>
            <a:ext cx="1488126" cy="2316956"/>
          </a:xfrm>
          <a:prstGeom prst="rect">
            <a:avLst/>
          </a:prstGeom>
          <a:effectLst>
            <a:outerShdw blurRad="190500" dist="63500" dir="2700000" sx="99000" sy="99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78" name="Picture 77" descr="post_object_image_2231391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7570" y="2627110"/>
            <a:ext cx="1489132" cy="2316956"/>
          </a:xfrm>
          <a:prstGeom prst="rect">
            <a:avLst/>
          </a:prstGeom>
          <a:effectLst>
            <a:outerShdw blurRad="190500" dist="63500" dir="2700000" sx="99000" sy="99000" algn="tl" rotWithShape="0">
              <a:srgbClr val="000000">
                <a:alpha val="23000"/>
              </a:srgbClr>
            </a:outerShdw>
          </a:effectLst>
        </p:spPr>
      </p:pic>
      <p:sp>
        <p:nvSpPr>
          <p:cNvPr id="79" name="Text Box 78"/>
          <p:cNvSpPr txBox="1"/>
          <p:nvPr/>
        </p:nvSpPr>
        <p:spPr>
          <a:xfrm>
            <a:off x="5071707" y="1935004"/>
            <a:ext cx="2977277" cy="5075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Issue resolution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CSAT 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Other channels to answer question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80" name="Picture 79" descr="post_object_image_41294047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0741" y="2627110"/>
            <a:ext cx="1374063" cy="2379820"/>
          </a:xfrm>
          <a:prstGeom prst="rect">
            <a:avLst/>
          </a:prstGeom>
          <a:noFill/>
          <a:effectLst>
            <a:outerShdw blurRad="190500" dist="63500" dir="2700000" sx="99000" sy="99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81" name="Picture 80" descr="post_object_image_3279314975"/>
          <p:cNvPicPr>
            <a:picLocks noChangeAspect="1"/>
          </p:cNvPicPr>
          <p:nvPr/>
        </p:nvPicPr>
        <p:blipFill>
          <a:blip r:embed="rId9"/>
          <a:srcRect t="55556" b="8185"/>
          <a:stretch>
            <a:fillRect/>
          </a:stretch>
        </p:blipFill>
        <p:spPr>
          <a:xfrm>
            <a:off x="9194825" y="2627110"/>
            <a:ext cx="1434731" cy="907256"/>
          </a:xfrm>
          <a:prstGeom prst="rect">
            <a:avLst/>
          </a:prstGeom>
          <a:effectLst>
            <a:outerShdw blurRad="190500" dist="63500" dir="2700000" sx="99000" sy="99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82" name="Picture 81" descr="post_object_image_3999625412"/>
          <p:cNvPicPr>
            <a:picLocks noChangeAspect="1"/>
          </p:cNvPicPr>
          <p:nvPr/>
        </p:nvPicPr>
        <p:blipFill>
          <a:blip r:embed="rId10"/>
          <a:srcRect t="30506" b="9177"/>
          <a:stretch>
            <a:fillRect/>
          </a:stretch>
        </p:blipFill>
        <p:spPr>
          <a:xfrm>
            <a:off x="9234466" y="3534366"/>
            <a:ext cx="1395062" cy="1472565"/>
          </a:xfrm>
          <a:prstGeom prst="rect">
            <a:avLst/>
          </a:prstGeom>
          <a:effectLst>
            <a:outerShdw blurRad="190500" dist="63500" dir="2700000" sx="99000" sy="99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84" name="Picture 83" descr="post_object_image_194318156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29555" y="2627110"/>
            <a:ext cx="1402395" cy="2379821"/>
          </a:xfrm>
          <a:prstGeom prst="rect">
            <a:avLst/>
          </a:prstGeom>
          <a:effectLst>
            <a:outerShdw blurRad="190500" dist="63500" dir="2700000" sx="99000" sy="99000" algn="tl" rotWithShape="0">
              <a:srgbClr val="000000">
                <a:alpha val="23000"/>
              </a:srgbClr>
            </a:outerShdw>
          </a:effectLst>
        </p:spPr>
      </p:pic>
      <p:sp>
        <p:nvSpPr>
          <p:cNvPr id="85" name="Text Box 84"/>
          <p:cNvSpPr txBox="1"/>
          <p:nvPr/>
        </p:nvSpPr>
        <p:spPr>
          <a:xfrm>
            <a:off x="7967241" y="1934990"/>
            <a:ext cx="2216499" cy="6163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CSAT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Issue resolution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CES of chatbot usage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Comments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94" name="Rounded Rectangular Callout 93"/>
          <p:cNvSpPr/>
          <p:nvPr userDrawn="1"/>
        </p:nvSpPr>
        <p:spPr>
          <a:xfrm>
            <a:off x="10117505" y="4886916"/>
            <a:ext cx="1481806" cy="415808"/>
          </a:xfrm>
          <a:prstGeom prst="wedgeRoundRectCallout">
            <a:avLst>
              <a:gd name="adj1" fmla="val -30045"/>
              <a:gd name="adj2" fmla="val -88078"/>
              <a:gd name="adj3" fmla="val 16667"/>
            </a:avLst>
          </a:prstGeom>
          <a:solidFill>
            <a:srgbClr val="FFE899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800">
                <a:solidFill>
                  <a:srgbClr val="000000"/>
                </a:solidFill>
              </a:rPr>
              <a:t>User can </a:t>
            </a:r>
            <a:r>
              <a:rPr lang="en-US" altLang="zh-CN" sz="800" b="1">
                <a:solidFill>
                  <a:srgbClr val="000000"/>
                </a:solidFill>
              </a:rPr>
              <a:t>skip or turn back to answer</a:t>
            </a:r>
            <a:r>
              <a:rPr lang="en-US" altLang="zh-CN" sz="800">
                <a:solidFill>
                  <a:srgbClr val="000000"/>
                </a:solidFill>
              </a:rPr>
              <a:t>, flexible and reduce interruption</a:t>
            </a:r>
            <a:endParaRPr lang="en-US" altLang="zh-CN" sz="800">
              <a:solidFill>
                <a:srgbClr val="000000"/>
              </a:solidFill>
            </a:endParaRPr>
          </a:p>
        </p:txBody>
      </p:sp>
      <p:sp>
        <p:nvSpPr>
          <p:cNvPr id="86" name="Rectangles 85"/>
          <p:cNvSpPr/>
          <p:nvPr userDrawn="1"/>
        </p:nvSpPr>
        <p:spPr>
          <a:xfrm>
            <a:off x="9237596" y="4126782"/>
            <a:ext cx="946150" cy="228600"/>
          </a:xfrm>
          <a:prstGeom prst="rect">
            <a:avLst/>
          </a:prstGeom>
          <a:noFill/>
          <a:ln w="12700" cap="flat" cmpd="sng" algn="ctr">
            <a:solidFill>
              <a:srgbClr val="C0000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7" name="Rectangles 86"/>
          <p:cNvSpPr/>
          <p:nvPr userDrawn="1"/>
        </p:nvSpPr>
        <p:spPr>
          <a:xfrm>
            <a:off x="7802496" y="3782040"/>
            <a:ext cx="946150" cy="228600"/>
          </a:xfrm>
          <a:prstGeom prst="rect">
            <a:avLst/>
          </a:prstGeom>
          <a:noFill/>
          <a:ln w="12700" cap="flat" cmpd="sng" algn="ctr">
            <a:solidFill>
              <a:srgbClr val="C00000">
                <a:alpha val="100000"/>
              </a:srgbClr>
            </a:solidFill>
            <a:prstDash val="solid"/>
          </a:ln>
          <a:effectLst>
            <a:outerShdw blurRad="190500" dist="63500" dir="2700000" sx="99000" sy="99000" algn="tl" rotWithShape="0">
              <a:srgbClr val="000000">
                <a:alpha val="23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8" name="Rectangles 87"/>
          <p:cNvSpPr/>
          <p:nvPr userDrawn="1"/>
        </p:nvSpPr>
        <p:spPr>
          <a:xfrm>
            <a:off x="9624946" y="3305790"/>
            <a:ext cx="279400" cy="228600"/>
          </a:xfrm>
          <a:prstGeom prst="rect">
            <a:avLst/>
          </a:prstGeom>
          <a:noFill/>
          <a:ln w="12700" cap="flat" cmpd="sng" algn="ctr">
            <a:solidFill>
              <a:srgbClr val="C0000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89" name="Picture 88" descr="post_object_image_26634654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0577" y="1694796"/>
            <a:ext cx="1394900" cy="218567"/>
          </a:xfrm>
          <a:prstGeom prst="rect">
            <a:avLst/>
          </a:prstGeom>
        </p:spPr>
      </p:pic>
      <p:pic>
        <p:nvPicPr>
          <p:cNvPr id="90" name="Picture 89" descr="post_object_image_2700486916"/>
          <p:cNvPicPr>
            <a:picLocks noChangeAspect="1"/>
          </p:cNvPicPr>
          <p:nvPr/>
        </p:nvPicPr>
        <p:blipFill>
          <a:blip r:embed="rId13"/>
          <a:srcRect t="33906" b="33906"/>
          <a:stretch>
            <a:fillRect/>
          </a:stretch>
        </p:blipFill>
        <p:spPr>
          <a:xfrm>
            <a:off x="7967272" y="1716369"/>
            <a:ext cx="1076367" cy="230970"/>
          </a:xfrm>
          <a:prstGeom prst="rect">
            <a:avLst/>
          </a:prstGeom>
          <a:noFill/>
        </p:spPr>
      </p:pic>
      <p:sp>
        <p:nvSpPr>
          <p:cNvPr id="91" name="Text Box 90"/>
          <p:cNvSpPr txBox="1"/>
          <p:nvPr/>
        </p:nvSpPr>
        <p:spPr>
          <a:xfrm>
            <a:off x="652054" y="5471683"/>
            <a:ext cx="73152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ts val="855"/>
              </a:spcBef>
            </a:pPr>
            <a:r>
              <a:rPr sz="14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r>
              <a:rPr lang="en-US" altLang="zh-CN" sz="14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rip.com</a:t>
            </a:r>
            <a:r>
              <a:rPr sz="1400" b="1" spc="-4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Optimization</a:t>
            </a:r>
            <a:r>
              <a:rPr sz="1400" b="1" spc="-3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400" b="1" spc="-3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Suggestion</a:t>
            </a:r>
            <a:endParaRPr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273050"/>
            <a:ext cx="758952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Survey Completion Methods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596930" y="798834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380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38099" y="0"/>
                </a:lnTo>
                <a:lnTo>
                  <a:pt x="38099" y="2285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59155" y="808359"/>
            <a:ext cx="1400175" cy="200025"/>
          </a:xfrm>
          <a:custGeom>
            <a:avLst/>
            <a:gdLst/>
            <a:ahLst/>
            <a:cxnLst/>
            <a:rect l="l" t="t" r="r" b="b"/>
            <a:pathLst>
              <a:path w="1400175" h="200025">
                <a:moveTo>
                  <a:pt x="1367127" y="200024"/>
                </a:moveTo>
                <a:lnTo>
                  <a:pt x="33047" y="200024"/>
                </a:lnTo>
                <a:lnTo>
                  <a:pt x="28187" y="199058"/>
                </a:lnTo>
                <a:lnTo>
                  <a:pt x="966" y="171837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367127" y="0"/>
                </a:lnTo>
                <a:lnTo>
                  <a:pt x="1399207" y="28187"/>
                </a:lnTo>
                <a:lnTo>
                  <a:pt x="1400174" y="33047"/>
                </a:lnTo>
                <a:lnTo>
                  <a:pt x="1400174" y="166977"/>
                </a:lnTo>
                <a:lnTo>
                  <a:pt x="1371987" y="199058"/>
                </a:lnTo>
                <a:lnTo>
                  <a:pt x="1367127" y="200024"/>
                </a:lnTo>
                <a:close/>
              </a:path>
            </a:pathLst>
          </a:custGeom>
          <a:solidFill>
            <a:srgbClr val="FFE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36630" y="795660"/>
            <a:ext cx="3791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Pop-up/conversation/redirect forms</a:t>
            </a:r>
            <a:r>
              <a:rPr sz="1200" spc="37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evenly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83330" y="798834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380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38099" y="0"/>
                </a:lnTo>
                <a:lnTo>
                  <a:pt x="38099" y="2285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76478" y="808364"/>
            <a:ext cx="1643982" cy="200025"/>
          </a:xfrm>
          <a:custGeom>
            <a:avLst/>
            <a:gdLst/>
            <a:ahLst/>
            <a:cxnLst/>
            <a:rect l="l" t="t" r="r" b="b"/>
            <a:pathLst>
              <a:path w="990600" h="200025">
                <a:moveTo>
                  <a:pt x="957551" y="200024"/>
                </a:moveTo>
                <a:lnTo>
                  <a:pt x="33047" y="200024"/>
                </a:lnTo>
                <a:lnTo>
                  <a:pt x="28187" y="199058"/>
                </a:lnTo>
                <a:lnTo>
                  <a:pt x="966" y="171837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957551" y="0"/>
                </a:lnTo>
                <a:lnTo>
                  <a:pt x="989633" y="28187"/>
                </a:lnTo>
                <a:lnTo>
                  <a:pt x="990599" y="33047"/>
                </a:lnTo>
                <a:lnTo>
                  <a:pt x="990599" y="166977"/>
                </a:lnTo>
                <a:lnTo>
                  <a:pt x="962412" y="199058"/>
                </a:lnTo>
                <a:lnTo>
                  <a:pt x="957551" y="200024"/>
                </a:lnTo>
                <a:close/>
              </a:path>
            </a:pathLst>
          </a:custGeom>
          <a:solidFill>
            <a:srgbClr val="FFE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69041" y="798825"/>
            <a:ext cx="5429719" cy="228618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</a:t>
            </a:r>
            <a:r>
              <a:rPr sz="1200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</a:t>
            </a:r>
            <a:r>
              <a:rPr lang="en-US" altLang="zh-CN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</a:t>
            </a:r>
            <a:r>
              <a:rPr lang="en-US" altLang="zh-CN"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engaging enough</a:t>
            </a: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200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resulting in low </a:t>
            </a: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completion </a:t>
            </a:r>
            <a:r>
              <a:rPr lang="en-US" altLang="zh-CN"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9298" y="1073180"/>
            <a:ext cx="26771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Completion</a:t>
            </a:r>
            <a:r>
              <a:rPr sz="1350" b="1" spc="-4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sz="1350" b="1" spc="-8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2098" y="1433258"/>
            <a:ext cx="2395220" cy="493057"/>
          </a:xfrm>
          <a:prstGeom prst="rect">
            <a:avLst/>
          </a:prstGeom>
        </p:spPr>
        <p:txBody>
          <a:bodyPr vert="horz" wrap="square" lIns="0" tIns="6096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sz="1200" b="1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Pop-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 </a:t>
            </a:r>
            <a:r>
              <a:rPr sz="1200" b="1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11000"/>
              </a:lnSpc>
              <a:spcBef>
                <a:spcPts val="165"/>
              </a:spcBef>
            </a:pPr>
            <a:r>
              <a:rPr lang="en-US" altLang="zh-CN"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for questionnaires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altLang="zh-CN"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few questions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81351" y="1433258"/>
            <a:ext cx="2751255" cy="411369"/>
          </a:xfrm>
          <a:prstGeom prst="rect">
            <a:avLst/>
          </a:prstGeom>
        </p:spPr>
        <p:txBody>
          <a:bodyPr vert="horz" wrap="square" lIns="0" tIns="6096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Page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Redirect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11000"/>
              </a:lnSpc>
              <a:spcBef>
                <a:spcPts val="165"/>
              </a:spcBef>
            </a:pPr>
            <a:r>
              <a:rPr lang="en-US" altLang="zh-CN"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for long survey, f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ragmented user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2098" y="3920027"/>
            <a:ext cx="4060057" cy="413201"/>
          </a:xfrm>
          <a:prstGeom prst="rect">
            <a:avLst/>
          </a:prstGeom>
        </p:spPr>
        <p:txBody>
          <a:bodyPr vert="horz" wrap="square" lIns="0" tIns="6096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sz="1200" b="1" spc="-3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conversation</a:t>
            </a:r>
            <a:r>
              <a:rPr sz="1200" b="1" spc="-3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11000"/>
              </a:lnSpc>
              <a:spcBef>
                <a:spcPts val="165"/>
              </a:spcBef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feedback, seamless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en-US" altLang="zh-CN"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900" b="1" spc="-1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direct and engaging</a:t>
            </a:r>
            <a:endParaRPr sz="900" b="1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81711" y="1073180"/>
            <a:ext cx="2778760" cy="2319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Trip.com</a:t>
            </a:r>
            <a:r>
              <a:rPr sz="1350" b="1" spc="-4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Optimization</a:t>
            </a:r>
            <a:r>
              <a:rPr sz="1350" b="1" spc="-4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Suggestion</a:t>
            </a:r>
            <a:endParaRPr lang="en-US" altLang="zh-CN" sz="1350" b="1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181711" y="1350892"/>
            <a:ext cx="3731895" cy="244893"/>
          </a:xfrm>
          <a:prstGeom prst="rect">
            <a:avLst/>
          </a:prstGeom>
        </p:spPr>
        <p:txBody>
          <a:bodyPr vert="horz" wrap="square" lIns="0" tIns="36830" rIns="0" bIns="0" rtlCol="0">
            <a:noAutofit/>
          </a:bodyPr>
          <a:lstStyle/>
          <a:p>
            <a:pPr marL="207645" marR="551815" indent="-171450">
              <a:lnSpc>
                <a:spcPct val="111000"/>
              </a:lnSpc>
              <a:spcBef>
                <a:spcPts val="45"/>
              </a:spcBef>
              <a:buChar char="•"/>
            </a:pPr>
            <a:r>
              <a:rPr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in-conversation format for </a:t>
            </a:r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simple/short scale</a:t>
            </a:r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Picture 49" descr="post_object_image_20677191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54" y="2067692"/>
            <a:ext cx="2814741" cy="1607916"/>
          </a:xfrm>
          <a:prstGeom prst="rect">
            <a:avLst/>
          </a:prstGeom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</p:pic>
      <p:pic>
        <p:nvPicPr>
          <p:cNvPr id="51" name="Picture 50" descr="post_object_image_25647772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349" y="2053015"/>
            <a:ext cx="2678277" cy="1867015"/>
          </a:xfrm>
          <a:prstGeom prst="rect">
            <a:avLst/>
          </a:prstGeom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</p:pic>
      <p:pic>
        <p:nvPicPr>
          <p:cNvPr id="52" name="Picture 51" descr="post_object_image_8954963"/>
          <p:cNvPicPr>
            <a:picLocks noChangeAspect="1"/>
          </p:cNvPicPr>
          <p:nvPr/>
        </p:nvPicPr>
        <p:blipFill>
          <a:blip r:embed="rId3"/>
          <a:srcRect t="50086" b="1089"/>
          <a:stretch>
            <a:fillRect/>
          </a:stretch>
        </p:blipFill>
        <p:spPr>
          <a:xfrm>
            <a:off x="221954" y="4581513"/>
            <a:ext cx="3015030" cy="1770716"/>
          </a:xfrm>
          <a:prstGeom prst="rect">
            <a:avLst/>
          </a:prstGeom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</p:pic>
      <p:pic>
        <p:nvPicPr>
          <p:cNvPr id="53" name="Picture 52" descr="post_object_image_3154896516"/>
          <p:cNvPicPr>
            <a:picLocks noChangeAspect="1"/>
          </p:cNvPicPr>
          <p:nvPr/>
        </p:nvPicPr>
        <p:blipFill>
          <a:blip r:embed="rId4"/>
          <a:srcRect t="45459"/>
          <a:stretch>
            <a:fillRect/>
          </a:stretch>
        </p:blipFill>
        <p:spPr>
          <a:xfrm>
            <a:off x="3426465" y="4581513"/>
            <a:ext cx="2235893" cy="2134095"/>
          </a:xfrm>
          <a:prstGeom prst="rect">
            <a:avLst/>
          </a:prstGeom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</p:pic>
      <p:pic>
        <p:nvPicPr>
          <p:cNvPr id="64" name="图片 63" descr="post_object_image_40354987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665024" y="1888404"/>
            <a:ext cx="633499" cy="179292"/>
          </a:xfrm>
          <a:prstGeom prst="rect">
            <a:avLst/>
          </a:prstGeom>
          <a:noFill/>
        </p:spPr>
      </p:pic>
      <p:pic>
        <p:nvPicPr>
          <p:cNvPr id="55" name="Picture 54" descr="post_object_image_1339316343"/>
          <p:cNvPicPr>
            <a:picLocks noChangeAspect="1"/>
          </p:cNvPicPr>
          <p:nvPr/>
        </p:nvPicPr>
        <p:blipFill>
          <a:blip r:embed="rId6"/>
          <a:srcRect t="1246" b="1246"/>
          <a:stretch>
            <a:fillRect/>
          </a:stretch>
        </p:blipFill>
        <p:spPr>
          <a:xfrm>
            <a:off x="2387618" y="4333208"/>
            <a:ext cx="771525" cy="276225"/>
          </a:xfrm>
          <a:prstGeom prst="rect">
            <a:avLst/>
          </a:prstGeom>
        </p:spPr>
      </p:pic>
      <p:pic>
        <p:nvPicPr>
          <p:cNvPr id="56" name="Picture 55" descr="post_object_image_2700486916"/>
          <p:cNvPicPr>
            <a:picLocks noChangeAspect="1"/>
          </p:cNvPicPr>
          <p:nvPr/>
        </p:nvPicPr>
        <p:blipFill>
          <a:blip r:embed="rId7"/>
          <a:srcRect t="33906" b="33906"/>
          <a:stretch>
            <a:fillRect/>
          </a:stretch>
        </p:blipFill>
        <p:spPr>
          <a:xfrm>
            <a:off x="4788124" y="4392043"/>
            <a:ext cx="903677" cy="193914"/>
          </a:xfrm>
          <a:prstGeom prst="rect">
            <a:avLst/>
          </a:prstGeom>
          <a:noFill/>
        </p:spPr>
      </p:pic>
      <p:sp>
        <p:nvSpPr>
          <p:cNvPr id="57" name="object 4"/>
          <p:cNvSpPr/>
          <p:nvPr/>
        </p:nvSpPr>
        <p:spPr>
          <a:xfrm>
            <a:off x="7453910" y="1595754"/>
            <a:ext cx="1923150" cy="248873"/>
          </a:xfrm>
          <a:custGeom>
            <a:avLst/>
            <a:gdLst/>
            <a:ahLst/>
            <a:cxnLst/>
            <a:rect l="l" t="t" r="r" b="b"/>
            <a:pathLst>
              <a:path w="2343150" h="428625">
                <a:moveTo>
                  <a:pt x="2276402" y="428624"/>
                </a:moveTo>
                <a:lnTo>
                  <a:pt x="66746" y="428624"/>
                </a:lnTo>
                <a:lnTo>
                  <a:pt x="62101" y="428166"/>
                </a:lnTo>
                <a:lnTo>
                  <a:pt x="24240" y="411017"/>
                </a:lnTo>
                <a:lnTo>
                  <a:pt x="2287" y="375724"/>
                </a:lnTo>
                <a:lnTo>
                  <a:pt x="0" y="361877"/>
                </a:lnTo>
                <a:lnTo>
                  <a:pt x="0" y="357187"/>
                </a:lnTo>
                <a:lnTo>
                  <a:pt x="0" y="66746"/>
                </a:lnTo>
                <a:lnTo>
                  <a:pt x="14645" y="27848"/>
                </a:lnTo>
                <a:lnTo>
                  <a:pt x="48433" y="3642"/>
                </a:lnTo>
                <a:lnTo>
                  <a:pt x="66746" y="0"/>
                </a:lnTo>
                <a:lnTo>
                  <a:pt x="2276402" y="0"/>
                </a:lnTo>
                <a:lnTo>
                  <a:pt x="2315300" y="14645"/>
                </a:lnTo>
                <a:lnTo>
                  <a:pt x="2339506" y="48432"/>
                </a:lnTo>
                <a:lnTo>
                  <a:pt x="2343149" y="66746"/>
                </a:lnTo>
                <a:lnTo>
                  <a:pt x="2343149" y="361877"/>
                </a:lnTo>
                <a:lnTo>
                  <a:pt x="2328504" y="400774"/>
                </a:lnTo>
                <a:lnTo>
                  <a:pt x="2294716" y="424980"/>
                </a:lnTo>
                <a:lnTo>
                  <a:pt x="2281048" y="428166"/>
                </a:lnTo>
                <a:lnTo>
                  <a:pt x="2276402" y="428624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wrap="square" lIns="0" tIns="0" rIns="0" bIns="0" rtlCol="0" anchor="ctr"/>
          <a:p>
            <a:pPr algn="ctr">
              <a:spcBef>
                <a:spcPts val="290"/>
              </a:spcBef>
            </a:pPr>
            <a:r>
              <a:rPr lang="en-US" altLang="zh-CN" sz="1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AI Chatbot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object 4"/>
          <p:cNvSpPr/>
          <p:nvPr/>
        </p:nvSpPr>
        <p:spPr>
          <a:xfrm>
            <a:off x="6225115" y="2075030"/>
            <a:ext cx="1923150" cy="242737"/>
          </a:xfrm>
          <a:custGeom>
            <a:avLst/>
            <a:gdLst/>
            <a:ahLst/>
            <a:cxnLst/>
            <a:rect l="l" t="t" r="r" b="b"/>
            <a:pathLst>
              <a:path w="2343150" h="428625">
                <a:moveTo>
                  <a:pt x="2276402" y="428624"/>
                </a:moveTo>
                <a:lnTo>
                  <a:pt x="66746" y="428624"/>
                </a:lnTo>
                <a:lnTo>
                  <a:pt x="62101" y="428166"/>
                </a:lnTo>
                <a:lnTo>
                  <a:pt x="24240" y="411017"/>
                </a:lnTo>
                <a:lnTo>
                  <a:pt x="2287" y="375724"/>
                </a:lnTo>
                <a:lnTo>
                  <a:pt x="0" y="361877"/>
                </a:lnTo>
                <a:lnTo>
                  <a:pt x="0" y="357187"/>
                </a:lnTo>
                <a:lnTo>
                  <a:pt x="0" y="66746"/>
                </a:lnTo>
                <a:lnTo>
                  <a:pt x="14645" y="27848"/>
                </a:lnTo>
                <a:lnTo>
                  <a:pt x="48433" y="3642"/>
                </a:lnTo>
                <a:lnTo>
                  <a:pt x="66746" y="0"/>
                </a:lnTo>
                <a:lnTo>
                  <a:pt x="2276402" y="0"/>
                </a:lnTo>
                <a:lnTo>
                  <a:pt x="2315300" y="14645"/>
                </a:lnTo>
                <a:lnTo>
                  <a:pt x="2339506" y="48432"/>
                </a:lnTo>
                <a:lnTo>
                  <a:pt x="2343149" y="66746"/>
                </a:lnTo>
                <a:lnTo>
                  <a:pt x="2343149" y="361877"/>
                </a:lnTo>
                <a:lnTo>
                  <a:pt x="2328504" y="400774"/>
                </a:lnTo>
                <a:lnTo>
                  <a:pt x="2294716" y="424980"/>
                </a:lnTo>
                <a:lnTo>
                  <a:pt x="2281048" y="428166"/>
                </a:lnTo>
                <a:lnTo>
                  <a:pt x="2276402" y="428624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wrap="square" lIns="0" tIns="0" rIns="0" bIns="0" rtlCol="0" anchor="ctr"/>
          <a:p>
            <a:pPr algn="ctr">
              <a:spcBef>
                <a:spcPts val="290"/>
              </a:spcBef>
            </a:pPr>
            <a:r>
              <a:rPr lang="en-US" altLang="zh-CN" sz="1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Chat Sesstion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object 4"/>
          <p:cNvSpPr/>
          <p:nvPr/>
        </p:nvSpPr>
        <p:spPr>
          <a:xfrm>
            <a:off x="8782695" y="2074999"/>
            <a:ext cx="1923150" cy="242767"/>
          </a:xfrm>
          <a:custGeom>
            <a:avLst/>
            <a:gdLst/>
            <a:ahLst/>
            <a:cxnLst/>
            <a:rect l="l" t="t" r="r" b="b"/>
            <a:pathLst>
              <a:path w="2343150" h="428625">
                <a:moveTo>
                  <a:pt x="2276402" y="428624"/>
                </a:moveTo>
                <a:lnTo>
                  <a:pt x="66746" y="428624"/>
                </a:lnTo>
                <a:lnTo>
                  <a:pt x="62101" y="428166"/>
                </a:lnTo>
                <a:lnTo>
                  <a:pt x="24240" y="411017"/>
                </a:lnTo>
                <a:lnTo>
                  <a:pt x="2287" y="375724"/>
                </a:lnTo>
                <a:lnTo>
                  <a:pt x="0" y="361877"/>
                </a:lnTo>
                <a:lnTo>
                  <a:pt x="0" y="357187"/>
                </a:lnTo>
                <a:lnTo>
                  <a:pt x="0" y="66746"/>
                </a:lnTo>
                <a:lnTo>
                  <a:pt x="14645" y="27848"/>
                </a:lnTo>
                <a:lnTo>
                  <a:pt x="48433" y="3642"/>
                </a:lnTo>
                <a:lnTo>
                  <a:pt x="66746" y="0"/>
                </a:lnTo>
                <a:lnTo>
                  <a:pt x="2276402" y="0"/>
                </a:lnTo>
                <a:lnTo>
                  <a:pt x="2315300" y="14645"/>
                </a:lnTo>
                <a:lnTo>
                  <a:pt x="2339506" y="48432"/>
                </a:lnTo>
                <a:lnTo>
                  <a:pt x="2343149" y="66746"/>
                </a:lnTo>
                <a:lnTo>
                  <a:pt x="2343149" y="361877"/>
                </a:lnTo>
                <a:lnTo>
                  <a:pt x="2328504" y="400774"/>
                </a:lnTo>
                <a:lnTo>
                  <a:pt x="2294716" y="424980"/>
                </a:lnTo>
                <a:lnTo>
                  <a:pt x="2281048" y="428166"/>
                </a:lnTo>
                <a:lnTo>
                  <a:pt x="2276402" y="428624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wrap="square" lIns="0" tIns="0" rIns="0" bIns="0" rtlCol="0" anchor="ctr"/>
          <a:p>
            <a:pPr algn="ctr">
              <a:spcBef>
                <a:spcPts val="290"/>
              </a:spcBef>
            </a:pPr>
            <a:r>
              <a:rPr lang="en-US" altLang="zh-CN" sz="1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 to Human Agent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直接箭头连接符 58"/>
          <p:cNvCxnSpPr/>
          <p:nvPr userDrawn="1"/>
        </p:nvCxnSpPr>
        <p:spPr>
          <a:xfrm flipH="1">
            <a:off x="7189814" y="1844628"/>
            <a:ext cx="1221823" cy="210848"/>
          </a:xfrm>
          <a:prstGeom prst="straightConnector1">
            <a:avLst/>
          </a:prstGeom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58"/>
          <p:cNvCxnSpPr/>
          <p:nvPr userDrawn="1"/>
        </p:nvCxnSpPr>
        <p:spPr>
          <a:xfrm>
            <a:off x="8408500" y="1844628"/>
            <a:ext cx="1306765" cy="217382"/>
          </a:xfrm>
          <a:prstGeom prst="straightConnector1">
            <a:avLst/>
          </a:prstGeom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58"/>
          <p:cNvCxnSpPr/>
          <p:nvPr userDrawn="1"/>
        </p:nvCxnSpPr>
        <p:spPr>
          <a:xfrm>
            <a:off x="7185566" y="2311373"/>
            <a:ext cx="0" cy="160667"/>
          </a:xfrm>
          <a:prstGeom prst="straightConnector1">
            <a:avLst/>
          </a:prstGeom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5" name="图片 33" descr="post_object_image_2089342287"/>
          <p:cNvPicPr>
            <a:picLocks noChangeAspect="1"/>
          </p:cNvPicPr>
          <p:nvPr/>
        </p:nvPicPr>
        <p:blipFill>
          <a:blip r:embed="rId8"/>
          <a:srcRect l="21899" t="31621" r="21620"/>
          <a:stretch>
            <a:fillRect/>
          </a:stretch>
        </p:blipFill>
        <p:spPr>
          <a:xfrm>
            <a:off x="5997891" y="2471874"/>
            <a:ext cx="2376266" cy="1742685"/>
          </a:xfrm>
          <a:prstGeom prst="rect">
            <a:avLst/>
          </a:prstGeom>
        </p:spPr>
      </p:pic>
      <p:cxnSp>
        <p:nvCxnSpPr>
          <p:cNvPr id="66" name="直接箭头连接符 58"/>
          <p:cNvCxnSpPr/>
          <p:nvPr userDrawn="1"/>
        </p:nvCxnSpPr>
        <p:spPr>
          <a:xfrm>
            <a:off x="7120816" y="4226922"/>
            <a:ext cx="0" cy="165111"/>
          </a:xfrm>
          <a:prstGeom prst="straightConnector1">
            <a:avLst/>
          </a:prstGeom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7" name="图片 43" descr="post_object_image_16119279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7914" y="4392002"/>
            <a:ext cx="2376219" cy="1224312"/>
          </a:xfrm>
          <a:prstGeom prst="rect">
            <a:avLst/>
          </a:prstGeom>
        </p:spPr>
      </p:pic>
      <p:pic>
        <p:nvPicPr>
          <p:cNvPr id="69" name="图片 33" descr="post_object_image_2089342287"/>
          <p:cNvPicPr>
            <a:picLocks noChangeAspect="1"/>
          </p:cNvPicPr>
          <p:nvPr/>
        </p:nvPicPr>
        <p:blipFill>
          <a:blip r:embed="rId8"/>
          <a:srcRect l="21899" t="31621" r="25340" b="42053"/>
          <a:stretch>
            <a:fillRect/>
          </a:stretch>
        </p:blipFill>
        <p:spPr>
          <a:xfrm>
            <a:off x="8646945" y="2509704"/>
            <a:ext cx="2409125" cy="612887"/>
          </a:xfrm>
          <a:prstGeom prst="rect">
            <a:avLst/>
          </a:prstGeom>
          <a:noFill/>
        </p:spPr>
      </p:pic>
      <p:cxnSp>
        <p:nvCxnSpPr>
          <p:cNvPr id="70" name="直接箭头连接符 58"/>
          <p:cNvCxnSpPr/>
          <p:nvPr userDrawn="1"/>
        </p:nvCxnSpPr>
        <p:spPr>
          <a:xfrm>
            <a:off x="9715265" y="2311373"/>
            <a:ext cx="0" cy="160667"/>
          </a:xfrm>
          <a:prstGeom prst="straightConnector1">
            <a:avLst/>
          </a:prstGeom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 userDrawn="1"/>
        </p:nvSpPr>
        <p:spPr>
          <a:xfrm>
            <a:off x="8782693" y="2608056"/>
            <a:ext cx="2058937" cy="435710"/>
          </a:xfrm>
          <a:prstGeom prst="roundRect">
            <a:avLst>
              <a:gd name="adj" fmla="val 15695"/>
            </a:avLst>
          </a:prstGeom>
          <a:solidFill>
            <a:srgbClr val="0057B8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l"/>
            <a:r>
              <a:rPr lang="en-US" altLang="zh-CN" sz="700">
                <a:solidFill>
                  <a:schemeClr val="bg1"/>
                </a:solidFill>
              </a:rPr>
              <a:t>Connecting to human service...</a:t>
            </a:r>
            <a:endParaRPr lang="en-US" altLang="zh-CN" sz="700">
              <a:solidFill>
                <a:schemeClr val="bg1"/>
              </a:solidFill>
            </a:endParaRPr>
          </a:p>
          <a:p>
            <a:pPr algn="l"/>
            <a:r>
              <a:rPr lang="en-US" altLang="zh-CN" sz="700">
                <a:solidFill>
                  <a:schemeClr val="bg1"/>
                </a:solidFill>
              </a:rPr>
              <a:t>To better assist our customers like you, please provide a quick rating of our AI assistant</a:t>
            </a:r>
            <a:endParaRPr lang="en-US" altLang="zh-CN" sz="700">
              <a:solidFill>
                <a:schemeClr val="bg1"/>
              </a:solidFill>
            </a:endParaRPr>
          </a:p>
        </p:txBody>
      </p:sp>
      <p:cxnSp>
        <p:nvCxnSpPr>
          <p:cNvPr id="76" name="直接箭头连接符 58"/>
          <p:cNvCxnSpPr/>
          <p:nvPr userDrawn="1"/>
        </p:nvCxnSpPr>
        <p:spPr>
          <a:xfrm>
            <a:off x="9744274" y="3122612"/>
            <a:ext cx="0" cy="165111"/>
          </a:xfrm>
          <a:prstGeom prst="straightConnector1">
            <a:avLst/>
          </a:prstGeom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7" name="图片 43" descr="post_object_image_16119279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9638" y="3287722"/>
            <a:ext cx="2376219" cy="1224312"/>
          </a:xfrm>
          <a:prstGeom prst="rect">
            <a:avLst/>
          </a:prstGeom>
        </p:spPr>
      </p:pic>
      <p:pic>
        <p:nvPicPr>
          <p:cNvPr id="78" name="图片 44" descr="post_object_image_4208327540"/>
          <p:cNvPicPr>
            <a:picLocks noChangeAspect="1"/>
          </p:cNvPicPr>
          <p:nvPr/>
        </p:nvPicPr>
        <p:blipFill>
          <a:blip r:embed="rId10"/>
          <a:srcRect b="30377"/>
          <a:stretch>
            <a:fillRect/>
          </a:stretch>
        </p:blipFill>
        <p:spPr>
          <a:xfrm>
            <a:off x="5997914" y="5678461"/>
            <a:ext cx="2376219" cy="628015"/>
          </a:xfrm>
          <a:prstGeom prst="rect">
            <a:avLst/>
          </a:prstGeom>
        </p:spPr>
      </p:pic>
      <p:cxnSp>
        <p:nvCxnSpPr>
          <p:cNvPr id="79" name="直接箭头连接符 58"/>
          <p:cNvCxnSpPr/>
          <p:nvPr userDrawn="1"/>
        </p:nvCxnSpPr>
        <p:spPr>
          <a:xfrm>
            <a:off x="7120816" y="5564039"/>
            <a:ext cx="0" cy="160667"/>
          </a:xfrm>
          <a:prstGeom prst="straightConnector1">
            <a:avLst/>
          </a:prstGeom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58"/>
          <p:cNvCxnSpPr/>
          <p:nvPr userDrawn="1"/>
        </p:nvCxnSpPr>
        <p:spPr>
          <a:xfrm>
            <a:off x="9744275" y="4512029"/>
            <a:ext cx="0" cy="160667"/>
          </a:xfrm>
          <a:prstGeom prst="straightConnector1">
            <a:avLst/>
          </a:prstGeom>
          <a:ln w="19050" cap="flat" cmpd="sng" algn="ctr">
            <a:solidFill>
              <a:schemeClr val="bg1">
                <a:lumMod val="85000"/>
                <a:alpha val="10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1" name="图片 44" descr="post_object_image_4208327540"/>
          <p:cNvPicPr>
            <a:picLocks noChangeAspect="1"/>
          </p:cNvPicPr>
          <p:nvPr/>
        </p:nvPicPr>
        <p:blipFill>
          <a:blip r:embed="rId10"/>
          <a:srcRect b="30377"/>
          <a:stretch>
            <a:fillRect/>
          </a:stretch>
        </p:blipFill>
        <p:spPr>
          <a:xfrm>
            <a:off x="8679655" y="4672695"/>
            <a:ext cx="2376219" cy="639518"/>
          </a:xfrm>
          <a:prstGeom prst="rect">
            <a:avLst/>
          </a:prstGeom>
        </p:spPr>
      </p:pic>
      <p:sp>
        <p:nvSpPr>
          <p:cNvPr id="68" name="Rounded Rectangle 67"/>
          <p:cNvSpPr/>
          <p:nvPr userDrawn="1"/>
        </p:nvSpPr>
        <p:spPr>
          <a:xfrm>
            <a:off x="10332580" y="3088732"/>
            <a:ext cx="456975" cy="232865"/>
          </a:xfrm>
          <a:prstGeom prst="roundRect">
            <a:avLst>
              <a:gd name="adj" fmla="val 45051"/>
            </a:avLst>
          </a:prstGeom>
          <a:solidFill>
            <a:srgbClr val="F0F0F0">
              <a:alpha val="100000"/>
            </a:srgbClr>
          </a:solidFill>
          <a:ln w="12700" cap="flat" cmpd="sng" algn="ctr">
            <a:solidFill>
              <a:srgbClr val="E2E2E2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800">
                <a:solidFill>
                  <a:srgbClr val="000000"/>
                </a:solidFill>
              </a:rPr>
              <a:t>Skip</a:t>
            </a:r>
            <a:endParaRPr lang="zh-CN" altLang="en-US" sz="800">
              <a:solidFill>
                <a:srgbClr val="000000"/>
              </a:solidFill>
            </a:endParaRPr>
          </a:p>
        </p:txBody>
      </p:sp>
      <p:sp>
        <p:nvSpPr>
          <p:cNvPr id="94" name="Rounded Rectangular Callout 93"/>
          <p:cNvSpPr/>
          <p:nvPr userDrawn="1"/>
        </p:nvSpPr>
        <p:spPr>
          <a:xfrm>
            <a:off x="11106380" y="2666516"/>
            <a:ext cx="1045411" cy="934205"/>
          </a:xfrm>
          <a:prstGeom prst="wedgeRoundRectCallout">
            <a:avLst>
              <a:gd name="adj1" fmla="val -71778"/>
              <a:gd name="adj2" fmla="val -6222"/>
              <a:gd name="adj3" fmla="val 16667"/>
            </a:avLst>
          </a:prstGeom>
          <a:solidFill>
            <a:srgbClr val="FFE899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 altLang="zh-CN" sz="800">
              <a:solidFill>
                <a:srgbClr val="000000"/>
              </a:solidFill>
            </a:endParaRPr>
          </a:p>
        </p:txBody>
      </p:sp>
      <p:sp>
        <p:nvSpPr>
          <p:cNvPr id="93" name="Text Box 92"/>
          <p:cNvSpPr txBox="1"/>
          <p:nvPr/>
        </p:nvSpPr>
        <p:spPr>
          <a:xfrm>
            <a:off x="11106380" y="2680728"/>
            <a:ext cx="1135904" cy="91999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/>
              <a:t>Add a </a:t>
            </a:r>
            <a:r>
              <a:rPr lang="en-US" altLang="zh-CN" sz="800" b="1"/>
              <a:t>skip </a:t>
            </a:r>
            <a:r>
              <a:rPr lang="en-US" altLang="zh-CN" sz="800"/>
              <a:t>option to the AI CSAT survey to reduce excessive interruption for users.</a:t>
            </a:r>
            <a:endParaRPr lang="en-US" altLang="zh-CN" sz="800"/>
          </a:p>
          <a:p>
            <a:endParaRPr lang="en-US" altLang="zh-CN" sz="300"/>
          </a:p>
          <a:p>
            <a:r>
              <a:rPr lang="en-US" altLang="zh-CN" sz="800"/>
              <a:t>  </a:t>
            </a:r>
            <a:r>
              <a:rPr lang="en-US" altLang="zh-CN" sz="800" i="1"/>
              <a:t>(Reference: United Airlines)</a:t>
            </a:r>
            <a:endParaRPr lang="en-US" altLang="zh-CN" sz="800" i="1"/>
          </a:p>
        </p:txBody>
      </p:sp>
      <p:sp>
        <p:nvSpPr>
          <p:cNvPr id="96" name="Rounded Rectangular Callout 95"/>
          <p:cNvSpPr/>
          <p:nvPr userDrawn="1"/>
        </p:nvSpPr>
        <p:spPr>
          <a:xfrm>
            <a:off x="11106380" y="3842343"/>
            <a:ext cx="1045411" cy="881934"/>
          </a:xfrm>
          <a:prstGeom prst="wedgeRoundRectCallout">
            <a:avLst>
              <a:gd name="adj1" fmla="val -84903"/>
              <a:gd name="adj2" fmla="val -55152"/>
              <a:gd name="adj3" fmla="val 16667"/>
            </a:avLst>
          </a:prstGeom>
          <a:solidFill>
            <a:srgbClr val="FFE899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en-US" altLang="zh-CN" sz="800">
              <a:solidFill>
                <a:srgbClr val="000000"/>
              </a:solidFill>
            </a:endParaRPr>
          </a:p>
        </p:txBody>
      </p:sp>
      <p:sp>
        <p:nvSpPr>
          <p:cNvPr id="95" name="Text Box 94"/>
          <p:cNvSpPr txBox="1"/>
          <p:nvPr/>
        </p:nvSpPr>
        <p:spPr>
          <a:xfrm>
            <a:off x="11056070" y="3802108"/>
            <a:ext cx="1194708" cy="82327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/>
              <a:t>Transferring to human agent usually means the problems may not be resolved, </a:t>
            </a:r>
            <a:r>
              <a:rPr lang="en-US" altLang="zh-CN" sz="800" b="0"/>
              <a:t>so there is </a:t>
            </a:r>
            <a:r>
              <a:rPr lang="en-US" altLang="zh-CN" sz="800" b="1"/>
              <a:t>no need to ask for whether Chatbot solve</a:t>
            </a:r>
            <a:endParaRPr lang="en-US" altLang="zh-CN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899" y="273050"/>
            <a:ext cx="758952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Trip.com</a:t>
            </a:r>
            <a:r>
              <a:rPr sz="2400" spc="-75" dirty="0"/>
              <a:t> </a:t>
            </a:r>
            <a:r>
              <a:rPr sz="2400" dirty="0"/>
              <a:t>and</a:t>
            </a:r>
            <a:r>
              <a:rPr sz="2400" spc="-70" dirty="0"/>
              <a:t> </a:t>
            </a:r>
            <a:r>
              <a:rPr sz="2400" dirty="0"/>
              <a:t>Competitors</a:t>
            </a:r>
            <a:r>
              <a:rPr sz="2400" spc="-70" dirty="0"/>
              <a:t> </a:t>
            </a:r>
            <a:r>
              <a:rPr sz="2400" spc="-10" dirty="0"/>
              <a:t>Test</a:t>
            </a:r>
            <a:r>
              <a:rPr sz="2400" spc="-70" dirty="0"/>
              <a:t> </a:t>
            </a:r>
            <a:r>
              <a:rPr sz="2400" spc="-10" dirty="0"/>
              <a:t>Summary</a:t>
            </a:r>
            <a:endParaRPr sz="2400" spc="-10" dirty="0"/>
          </a:p>
        </p:txBody>
      </p:sp>
      <p:sp>
        <p:nvSpPr>
          <p:cNvPr id="15" name="object 15"/>
          <p:cNvSpPr txBox="1"/>
          <p:nvPr/>
        </p:nvSpPr>
        <p:spPr>
          <a:xfrm>
            <a:off x="551162" y="798311"/>
            <a:ext cx="3446145" cy="220345"/>
          </a:xfrm>
          <a:prstGeom prst="rect">
            <a:avLst/>
          </a:prstGeom>
          <a:noFill/>
        </p:spPr>
        <p:txBody>
          <a:bodyPr vert="horz" wrap="square" lIns="0" tIns="12700" rIns="0" bIns="0" rtlCol="0" anchor="t">
            <a:spAutoFit/>
          </a:bodyPr>
          <a:lstStyle/>
          <a:p>
            <a:pPr marL="12700" indent="0" rtl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None/>
            </a:pP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 vs Key Competitors Comparison</a:t>
            </a:r>
            <a:endParaRPr sz="1350" b="1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193" y="3548447"/>
            <a:ext cx="2140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r>
              <a:rPr sz="900" b="1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Entry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900" spc="-2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Trigger</a:t>
            </a:r>
            <a:r>
              <a:rPr sz="900" spc="-1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timing,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visibility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99055" y="3548451"/>
            <a:ext cx="2912912" cy="28956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Script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Completeness, </a:t>
            </a:r>
            <a:r>
              <a:rPr lang="en-US" altLang="zh-CN"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courtesy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57179" y="3548451"/>
            <a:ext cx="269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Completion</a:t>
            </a:r>
            <a:r>
              <a:rPr sz="900" b="1" spc="-2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900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sz="900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experience,</a:t>
            </a:r>
            <a:r>
              <a:rPr sz="900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convenience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36654" y="3548447"/>
            <a:ext cx="2312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  <a:r>
              <a:rPr sz="9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completeness,</a:t>
            </a:r>
            <a:r>
              <a:rPr sz="900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3237" y="5063507"/>
            <a:ext cx="28651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Benchmarks</a:t>
            </a:r>
            <a:r>
              <a:rPr sz="1350" b="1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1350" b="1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</a:t>
            </a:r>
            <a:endParaRPr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5937" y="5457206"/>
            <a:ext cx="3552825" cy="685800"/>
            <a:chOff x="609599" y="4914899"/>
            <a:chExt cx="3552825" cy="685800"/>
          </a:xfrm>
        </p:grpSpPr>
        <p:sp>
          <p:nvSpPr>
            <p:cNvPr id="22" name="object 22"/>
            <p:cNvSpPr/>
            <p:nvPr/>
          </p:nvSpPr>
          <p:spPr>
            <a:xfrm>
              <a:off x="623887" y="4914899"/>
              <a:ext cx="3538854" cy="685800"/>
            </a:xfrm>
            <a:custGeom>
              <a:avLst/>
              <a:gdLst/>
              <a:ahLst/>
              <a:cxnLst/>
              <a:rect l="l" t="t" r="r" b="b"/>
              <a:pathLst>
                <a:path w="3538854" h="685800">
                  <a:moveTo>
                    <a:pt x="350548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3505489" y="0"/>
                  </a:lnTo>
                  <a:lnTo>
                    <a:pt x="3510349" y="966"/>
                  </a:lnTo>
                  <a:lnTo>
                    <a:pt x="3537570" y="28186"/>
                  </a:lnTo>
                  <a:lnTo>
                    <a:pt x="3538536" y="33047"/>
                  </a:lnTo>
                  <a:lnTo>
                    <a:pt x="3538536" y="652752"/>
                  </a:lnTo>
                  <a:lnTo>
                    <a:pt x="3510349" y="684833"/>
                  </a:lnTo>
                  <a:lnTo>
                    <a:pt x="3505489" y="685799"/>
                  </a:lnTo>
                  <a:close/>
                </a:path>
              </a:pathLst>
            </a:custGeom>
            <a:solidFill>
              <a:srgbClr val="E6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09599" y="4914899"/>
              <a:ext cx="28575" cy="685800"/>
            </a:xfrm>
            <a:custGeom>
              <a:avLst/>
              <a:gdLst/>
              <a:ahLst/>
              <a:cxnLst/>
              <a:rect l="l" t="t" r="r" b="b"/>
              <a:pathLst>
                <a:path w="28575" h="685800">
                  <a:moveTo>
                    <a:pt x="28574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85799"/>
                  </a:lnTo>
                  <a:close/>
                </a:path>
              </a:pathLst>
            </a:custGeom>
            <a:solidFill>
              <a:srgbClr val="3364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33424" y="5018394"/>
              <a:ext cx="152399" cy="13462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27062" y="5412121"/>
            <a:ext cx="3309631" cy="662305"/>
          </a:xfrm>
          <a:prstGeom prst="rect">
            <a:avLst/>
          </a:prstGeom>
        </p:spPr>
        <p:txBody>
          <a:bodyPr vert="horz" wrap="square" lIns="0" tIns="111760" rIns="0" bIns="0" rtlCol="0">
            <a:noAutofit/>
          </a:bodyPr>
          <a:lstStyle/>
          <a:p>
            <a:pPr marL="240665">
              <a:lnSpc>
                <a:spcPct val="100000"/>
              </a:lnSpc>
              <a:spcBef>
                <a:spcPts val="880"/>
              </a:spcBef>
            </a:pP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</a:t>
            </a:r>
            <a:r>
              <a:rPr sz="1200" spc="-8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Airlines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111000"/>
              </a:lnSpc>
              <a:spcBef>
                <a:spcPts val="465"/>
              </a:spcBef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Thumbs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up/down optimization </a:t>
            </a:r>
            <a:r>
              <a:rPr lang="en-US" altLang="en-US" sz="90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</a:rPr>
              <a:t> Seemless follow</a:t>
            </a:r>
            <a:r>
              <a:rPr lang="zh-CN" altLang="en-US" sz="90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</a:rPr>
              <a:t>up question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21162" y="5457206"/>
            <a:ext cx="3562350" cy="685800"/>
            <a:chOff x="4314824" y="4914899"/>
            <a:chExt cx="3562350" cy="685800"/>
          </a:xfrm>
        </p:grpSpPr>
        <p:sp>
          <p:nvSpPr>
            <p:cNvPr id="27" name="object 27"/>
            <p:cNvSpPr/>
            <p:nvPr/>
          </p:nvSpPr>
          <p:spPr>
            <a:xfrm>
              <a:off x="4329112" y="4914899"/>
              <a:ext cx="3548379" cy="685800"/>
            </a:xfrm>
            <a:custGeom>
              <a:avLst/>
              <a:gdLst/>
              <a:ahLst/>
              <a:cxnLst/>
              <a:rect l="l" t="t" r="r" b="b"/>
              <a:pathLst>
                <a:path w="3548379" h="685800">
                  <a:moveTo>
                    <a:pt x="3515013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3515013" y="0"/>
                  </a:lnTo>
                  <a:lnTo>
                    <a:pt x="3519873" y="966"/>
                  </a:lnTo>
                  <a:lnTo>
                    <a:pt x="3547094" y="28186"/>
                  </a:lnTo>
                  <a:lnTo>
                    <a:pt x="3548061" y="33047"/>
                  </a:lnTo>
                  <a:lnTo>
                    <a:pt x="3548061" y="652752"/>
                  </a:lnTo>
                  <a:lnTo>
                    <a:pt x="3519873" y="684833"/>
                  </a:lnTo>
                  <a:lnTo>
                    <a:pt x="3515013" y="685799"/>
                  </a:lnTo>
                  <a:close/>
                </a:path>
              </a:pathLst>
            </a:custGeom>
            <a:solidFill>
              <a:srgbClr val="E6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314824" y="4914899"/>
              <a:ext cx="28575" cy="685800"/>
            </a:xfrm>
            <a:custGeom>
              <a:avLst/>
              <a:gdLst/>
              <a:ahLst/>
              <a:cxnLst/>
              <a:rect l="l" t="t" r="r" b="b"/>
              <a:pathLst>
                <a:path w="28575" h="685800">
                  <a:moveTo>
                    <a:pt x="28574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85799"/>
                  </a:lnTo>
                  <a:close/>
                </a:path>
              </a:pathLst>
            </a:custGeom>
            <a:solidFill>
              <a:srgbClr val="3364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8649" y="5010149"/>
              <a:ext cx="152399" cy="15269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4435413" y="5412121"/>
            <a:ext cx="2744470" cy="51879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880"/>
              </a:spcBef>
            </a:pPr>
            <a:r>
              <a:rPr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United</a:t>
            </a:r>
            <a:r>
              <a:rPr sz="1200" spc="-8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Airlines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 quality benchmark → Complete script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elements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035912" y="5457206"/>
            <a:ext cx="3552825" cy="685800"/>
            <a:chOff x="8029574" y="4914899"/>
            <a:chExt cx="3552825" cy="685800"/>
          </a:xfrm>
        </p:grpSpPr>
        <p:sp>
          <p:nvSpPr>
            <p:cNvPr id="32" name="object 32"/>
            <p:cNvSpPr/>
            <p:nvPr/>
          </p:nvSpPr>
          <p:spPr>
            <a:xfrm>
              <a:off x="8043861" y="4914899"/>
              <a:ext cx="3538854" cy="685800"/>
            </a:xfrm>
            <a:custGeom>
              <a:avLst/>
              <a:gdLst/>
              <a:ahLst/>
              <a:cxnLst/>
              <a:rect l="l" t="t" r="r" b="b"/>
              <a:pathLst>
                <a:path w="3538854" h="685800">
                  <a:moveTo>
                    <a:pt x="350548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3505489" y="0"/>
                  </a:lnTo>
                  <a:lnTo>
                    <a:pt x="3510348" y="966"/>
                  </a:lnTo>
                  <a:lnTo>
                    <a:pt x="3537568" y="28186"/>
                  </a:lnTo>
                  <a:lnTo>
                    <a:pt x="3538536" y="33047"/>
                  </a:lnTo>
                  <a:lnTo>
                    <a:pt x="3538536" y="652752"/>
                  </a:lnTo>
                  <a:lnTo>
                    <a:pt x="3510348" y="684833"/>
                  </a:lnTo>
                  <a:lnTo>
                    <a:pt x="3505489" y="685799"/>
                  </a:lnTo>
                  <a:close/>
                </a:path>
              </a:pathLst>
            </a:custGeom>
            <a:solidFill>
              <a:srgbClr val="E6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029574" y="4914899"/>
              <a:ext cx="28575" cy="685800"/>
            </a:xfrm>
            <a:custGeom>
              <a:avLst/>
              <a:gdLst/>
              <a:ahLst/>
              <a:cxnLst/>
              <a:rect l="l" t="t" r="r" b="b"/>
              <a:pathLst>
                <a:path w="28575" h="685800">
                  <a:moveTo>
                    <a:pt x="28574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85799"/>
                  </a:lnTo>
                  <a:close/>
                </a:path>
              </a:pathLst>
            </a:custGeom>
            <a:solidFill>
              <a:srgbClr val="3364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3399" y="5010149"/>
              <a:ext cx="152399" cy="1523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8143763" y="5412121"/>
            <a:ext cx="2827655" cy="51879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880"/>
              </a:spcBef>
            </a:pPr>
            <a:r>
              <a:rPr sz="12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Expedia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Precise timing → Clear evaluation entry after bot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6" name="Table 35"/>
          <p:cNvGraphicFramePr/>
          <p:nvPr/>
        </p:nvGraphicFramePr>
        <p:xfrm>
          <a:off x="551193" y="1223276"/>
          <a:ext cx="10895965" cy="2280285"/>
        </p:xfrm>
        <a:graphic>
          <a:graphicData uri="http://schemas.openxmlformats.org/drawingml/2006/table">
            <a:tbl>
              <a:tblPr/>
              <a:tblGrid>
                <a:gridCol w="2327275"/>
                <a:gridCol w="2151380"/>
                <a:gridCol w="2193925"/>
                <a:gridCol w="2174240"/>
                <a:gridCol w="2049145"/>
              </a:tblGrid>
              <a:tr h="253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1"/>
                        <a:t>Platform</a:t>
                      </a:r>
                      <a:endParaRPr lang="zh-CN" altLang="en-US" sz="1000"/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1"/>
                        <a:t>Evaluation Entry</a:t>
                      </a:r>
                      <a:endParaRPr lang="en-US" altLang="zh-CN" sz="1000" b="1"/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950" b="1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Feedback</a:t>
                      </a:r>
                      <a:r>
                        <a:rPr sz="950" b="1" spc="5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Script</a:t>
                      </a:r>
                      <a:endParaRPr lang="en-US" altLang="zh-CN" sz="950" b="1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950" b="1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Completion</a:t>
                      </a:r>
                      <a:r>
                        <a:rPr sz="950" b="1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Method</a:t>
                      </a:r>
                      <a:endParaRPr lang="en-US" altLang="zh-CN" sz="950" b="1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950" b="1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Survey</a:t>
                      </a:r>
                      <a:r>
                        <a:rPr sz="950" b="1" spc="-10" dirty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Content</a:t>
                      </a:r>
                      <a:endParaRPr lang="en-US" altLang="zh-CN" sz="950" b="1" dirty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0F0">
                        <a:alpha val="10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/>
                        <a:t>Trip.com</a:t>
                      </a:r>
                      <a:endParaRPr lang="zh-CN" altLang="en-US" sz="1000" b="0"/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/>
                        <a:t>Expedia</a:t>
                      </a:r>
                      <a:endParaRPr lang="zh-CN" altLang="en-US" sz="1000" b="0"/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/>
                        <a:t>British Airways</a:t>
                      </a:r>
                      <a:endParaRPr lang="zh-CN" altLang="en-US" sz="1000" b="0"/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/>
                        <a:t>Singapore Airlines</a:t>
                      </a:r>
                      <a:endParaRPr lang="zh-CN" altLang="en-US" sz="1000" b="0"/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/>
                        <a:t>Cathay Pacific</a:t>
                      </a:r>
                      <a:endParaRPr lang="zh-CN" altLang="en-US" sz="1000" b="0"/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/>
                        <a:t>United Airlines</a:t>
                      </a:r>
                      <a:endParaRPr lang="zh-CN" altLang="en-US" sz="1000" b="0"/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/>
                        <a:t>Agoda</a:t>
                      </a:r>
                      <a:endParaRPr lang="zh-CN" altLang="en-US" sz="1000" b="0"/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3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/>
                        <a:t>Amazon</a:t>
                      </a:r>
                      <a:endParaRPr lang="zh-CN" altLang="en-US" sz="1000" b="0"/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★★★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2562EB"/>
                          </a:solidFill>
                        </a:rPr>
                        <a:t>★</a:t>
                      </a:r>
                      <a:r>
                        <a:rPr lang="zh-CN" altLang="en-US" sz="1000">
                          <a:solidFill>
                            <a:srgbClr val="2562EB"/>
                          </a:solidFill>
                        </a:rPr>
                        <a:t>☆☆☆☆</a:t>
                      </a:r>
                      <a:endParaRPr lang="zh-CN" altLang="en-US" sz="1000">
                        <a:solidFill>
                          <a:srgbClr val="2562EB"/>
                        </a:solidFill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object 4"/>
          <p:cNvSpPr txBox="1"/>
          <p:nvPr/>
        </p:nvSpPr>
        <p:spPr>
          <a:xfrm>
            <a:off x="596930" y="4085071"/>
            <a:ext cx="2358390" cy="220345"/>
          </a:xfrm>
          <a:prstGeom prst="rect">
            <a:avLst/>
          </a:prstGeom>
          <a:noFill/>
        </p:spPr>
        <p:txBody>
          <a:bodyPr vert="horz" wrap="square" lIns="0" tIns="12700" rIns="0" bIns="0" rtlCol="0" anchor="t">
            <a:spAutoFit/>
          </a:bodyPr>
          <a:p>
            <a:pPr marL="12700" indent="0" rtl="0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None/>
            </a:pPr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Problem</a:t>
            </a:r>
            <a:endParaRPr sz="1350" b="1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7898200" y="4457306"/>
            <a:ext cx="3014980" cy="321310"/>
            <a:chOff x="9944" y="6670"/>
            <a:chExt cx="4748" cy="506"/>
          </a:xfrm>
        </p:grpSpPr>
        <p:sp>
          <p:nvSpPr>
            <p:cNvPr id="40" name="object 14"/>
            <p:cNvSpPr txBox="1"/>
            <p:nvPr/>
          </p:nvSpPr>
          <p:spPr>
            <a:xfrm>
              <a:off x="9944" y="6670"/>
              <a:ext cx="4749" cy="506"/>
            </a:xfrm>
            <a:prstGeom prst="rect">
              <a:avLst/>
            </a:prstGeom>
          </p:spPr>
          <p:txBody>
            <a:bodyPr vert="horz" wrap="square" lIns="0" tIns="64769" rIns="0" bIns="0" rtlCol="0">
              <a:noAutofit/>
            </a:bodyPr>
            <a:p>
              <a:pPr marL="240665" marR="5080">
                <a:lnSpc>
                  <a:spcPts val="1650"/>
                </a:lnSpc>
                <a:spcBef>
                  <a:spcPts val="70"/>
                </a:spcBef>
              </a:pPr>
              <a:r>
                <a:rPr sz="105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Hard-to-</a:t>
              </a:r>
              <a:r>
                <a:rPr sz="105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find</a:t>
              </a:r>
              <a:r>
                <a:rPr sz="1050" spc="-15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05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evaluation</a:t>
              </a:r>
              <a:r>
                <a:rPr sz="105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entry </a:t>
              </a:r>
              <a:endParaRPr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object 3"/>
            <p:cNvSpPr/>
            <p:nvPr/>
          </p:nvSpPr>
          <p:spPr>
            <a:xfrm>
              <a:off x="10097" y="6816"/>
              <a:ext cx="60" cy="360"/>
            </a:xfrm>
            <a:custGeom>
              <a:avLst/>
              <a:gdLst/>
              <a:ahLst/>
              <a:cxnLst/>
              <a:rect l="l" t="t" r="r" b="b"/>
              <a:pathLst>
                <a:path w="38100" h="228600">
                  <a:moveTo>
                    <a:pt x="380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28599"/>
                  </a:lnTo>
                  <a:close/>
                </a:path>
              </a:pathLst>
            </a:custGeom>
            <a:solidFill>
              <a:srgbClr val="3364FF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43" name="Group 42"/>
          <p:cNvGrpSpPr/>
          <p:nvPr userDrawn="1"/>
        </p:nvGrpSpPr>
        <p:grpSpPr>
          <a:xfrm>
            <a:off x="4215260" y="4457305"/>
            <a:ext cx="3014980" cy="321310"/>
            <a:chOff x="9944" y="6670"/>
            <a:chExt cx="4748" cy="506"/>
          </a:xfrm>
        </p:grpSpPr>
        <p:sp>
          <p:nvSpPr>
            <p:cNvPr id="44" name="object 14"/>
            <p:cNvSpPr txBox="1"/>
            <p:nvPr/>
          </p:nvSpPr>
          <p:spPr>
            <a:xfrm>
              <a:off x="9944" y="6670"/>
              <a:ext cx="4749" cy="506"/>
            </a:xfrm>
            <a:prstGeom prst="rect">
              <a:avLst/>
            </a:prstGeom>
          </p:spPr>
          <p:txBody>
            <a:bodyPr vert="horz" wrap="square" lIns="0" tIns="64769" rIns="0" bIns="0" rtlCol="0">
              <a:noAutofit/>
            </a:bodyPr>
            <a:p>
              <a:pPr marL="240665" marR="5080">
                <a:lnSpc>
                  <a:spcPts val="1650"/>
                </a:lnSpc>
                <a:spcBef>
                  <a:spcPts val="70"/>
                </a:spcBef>
              </a:pPr>
              <a:r>
                <a:rPr lang="en-US" altLang="zh-CN" sz="1050">
                  <a:latin typeface="Arial" panose="020B0604020202020204" pitchFamily="34" charset="0"/>
                  <a:cs typeface="Arial" panose="020B0604020202020204" pitchFamily="34" charset="0"/>
                </a:rPr>
                <a:t>Multiple surveys without clarification</a:t>
              </a:r>
              <a:endParaRPr lang="en-US" altLang="zh-CN"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bject 3"/>
            <p:cNvSpPr/>
            <p:nvPr/>
          </p:nvSpPr>
          <p:spPr>
            <a:xfrm>
              <a:off x="10097" y="6816"/>
              <a:ext cx="60" cy="360"/>
            </a:xfrm>
            <a:custGeom>
              <a:avLst/>
              <a:gdLst/>
              <a:ahLst/>
              <a:cxnLst/>
              <a:rect l="l" t="t" r="r" b="b"/>
              <a:pathLst>
                <a:path w="38100" h="228600">
                  <a:moveTo>
                    <a:pt x="380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28599"/>
                  </a:lnTo>
                  <a:close/>
                </a:path>
              </a:pathLst>
            </a:custGeom>
            <a:solidFill>
              <a:srgbClr val="3364FF"/>
            </a:solidFill>
          </p:spPr>
          <p:txBody>
            <a:bodyPr wrap="square" lIns="0" tIns="0" rIns="0" bIns="0" rtlCol="0"/>
            <a:p/>
          </p:txBody>
        </p:sp>
      </p:grpSp>
      <p:grpSp>
        <p:nvGrpSpPr>
          <p:cNvPr id="46" name="Group 45"/>
          <p:cNvGrpSpPr/>
          <p:nvPr userDrawn="1"/>
        </p:nvGrpSpPr>
        <p:grpSpPr>
          <a:xfrm>
            <a:off x="534655" y="4404409"/>
            <a:ext cx="3014980" cy="321310"/>
            <a:chOff x="9944" y="6670"/>
            <a:chExt cx="4748" cy="506"/>
          </a:xfrm>
        </p:grpSpPr>
        <p:sp>
          <p:nvSpPr>
            <p:cNvPr id="47" name="object 14"/>
            <p:cNvSpPr txBox="1"/>
            <p:nvPr/>
          </p:nvSpPr>
          <p:spPr>
            <a:xfrm>
              <a:off x="9944" y="6670"/>
              <a:ext cx="4749" cy="506"/>
            </a:xfrm>
            <a:prstGeom prst="rect">
              <a:avLst/>
            </a:prstGeom>
          </p:spPr>
          <p:txBody>
            <a:bodyPr vert="horz" wrap="square" lIns="0" tIns="64769" rIns="0" bIns="0" rtlCol="0">
              <a:noAutofit/>
            </a:bodyPr>
            <a:p>
              <a:pPr marL="240665" marR="5080">
                <a:lnSpc>
                  <a:spcPts val="1650"/>
                </a:lnSpc>
                <a:spcBef>
                  <a:spcPts val="70"/>
                </a:spcBef>
              </a:pPr>
              <a:r>
                <a:rPr lang="en-US" altLang="zh-CN" sz="1050">
                  <a:latin typeface="Arial" panose="020B0604020202020204" pitchFamily="34" charset="0"/>
                  <a:cs typeface="Arial" panose="020B0604020202020204" pitchFamily="34" charset="0"/>
                </a:rPr>
                <a:t>Disjointed chat using experience</a:t>
              </a:r>
              <a:endParaRPr lang="en-US" altLang="zh-C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object 3"/>
            <p:cNvSpPr/>
            <p:nvPr/>
          </p:nvSpPr>
          <p:spPr>
            <a:xfrm>
              <a:off x="10097" y="6816"/>
              <a:ext cx="60" cy="360"/>
            </a:xfrm>
            <a:custGeom>
              <a:avLst/>
              <a:gdLst/>
              <a:ahLst/>
              <a:cxnLst/>
              <a:rect l="l" t="t" r="r" b="b"/>
              <a:pathLst>
                <a:path w="38100" h="228600">
                  <a:moveTo>
                    <a:pt x="380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28599"/>
                  </a:lnTo>
                  <a:close/>
                </a:path>
              </a:pathLst>
            </a:custGeom>
            <a:solidFill>
              <a:srgbClr val="3364FF"/>
            </a:solidFill>
          </p:spPr>
          <p:txBody>
            <a:bodyPr wrap="square" lIns="0" tIns="0" rIns="0" bIns="0" rtlCol="0"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09600" y="5257800"/>
            <a:ext cx="10972800" cy="914400"/>
          </a:xfrm>
          <a:custGeom>
            <a:avLst/>
            <a:gdLst/>
            <a:ahLst/>
            <a:cxnLst/>
            <a:rect l="l" t="t" r="r" b="b"/>
            <a:pathLst>
              <a:path w="10972800" h="914400">
                <a:moveTo>
                  <a:pt x="10901602" y="914399"/>
                </a:moveTo>
                <a:lnTo>
                  <a:pt x="71196" y="914399"/>
                </a:lnTo>
                <a:lnTo>
                  <a:pt x="66241" y="913911"/>
                </a:lnTo>
                <a:lnTo>
                  <a:pt x="29705" y="898777"/>
                </a:lnTo>
                <a:lnTo>
                  <a:pt x="3885" y="862737"/>
                </a:lnTo>
                <a:lnTo>
                  <a:pt x="0" y="843202"/>
                </a:lnTo>
                <a:lnTo>
                  <a:pt x="0" y="8381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0901602" y="0"/>
                </a:lnTo>
                <a:lnTo>
                  <a:pt x="10943091" y="15621"/>
                </a:lnTo>
                <a:lnTo>
                  <a:pt x="10968911" y="51661"/>
                </a:lnTo>
                <a:lnTo>
                  <a:pt x="10972798" y="71196"/>
                </a:lnTo>
                <a:lnTo>
                  <a:pt x="10972798" y="843202"/>
                </a:lnTo>
                <a:lnTo>
                  <a:pt x="10957175" y="884694"/>
                </a:lnTo>
                <a:lnTo>
                  <a:pt x="10921136" y="910512"/>
                </a:lnTo>
                <a:lnTo>
                  <a:pt x="10906556" y="913911"/>
                </a:lnTo>
                <a:lnTo>
                  <a:pt x="10901602" y="9143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899" y="273050"/>
            <a:ext cx="9837153" cy="75120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Trip.com</a:t>
            </a:r>
            <a:r>
              <a:rPr sz="2400" spc="-30" dirty="0"/>
              <a:t> </a:t>
            </a:r>
            <a:r>
              <a:rPr sz="2400" dirty="0"/>
              <a:t>Feedback</a:t>
            </a:r>
            <a:r>
              <a:rPr sz="2400" spc="-30" dirty="0"/>
              <a:t> </a:t>
            </a:r>
            <a:r>
              <a:rPr sz="2400" dirty="0"/>
              <a:t>Mechanism</a:t>
            </a:r>
            <a:r>
              <a:rPr sz="2400" spc="-110" dirty="0"/>
              <a:t> </a:t>
            </a:r>
            <a:r>
              <a:rPr sz="2400" dirty="0"/>
              <a:t>Analysis</a:t>
            </a:r>
            <a:r>
              <a:rPr sz="2400" spc="-30" dirty="0"/>
              <a:t> </a:t>
            </a:r>
            <a:r>
              <a:rPr sz="2400" dirty="0"/>
              <a:t>&amp;</a:t>
            </a:r>
            <a:r>
              <a:rPr sz="2400" spc="-25" dirty="0"/>
              <a:t> </a:t>
            </a:r>
            <a:r>
              <a:rPr sz="2400" spc="-10" dirty="0"/>
              <a:t>Optimization</a:t>
            </a:r>
            <a:endParaRPr sz="2400" spc="-10" dirty="0"/>
          </a:p>
        </p:txBody>
      </p:sp>
      <p:sp>
        <p:nvSpPr>
          <p:cNvPr id="8" name="object 8"/>
          <p:cNvSpPr/>
          <p:nvPr/>
        </p:nvSpPr>
        <p:spPr>
          <a:xfrm>
            <a:off x="1876424" y="733424"/>
            <a:ext cx="2438400" cy="200025"/>
          </a:xfrm>
          <a:custGeom>
            <a:avLst/>
            <a:gdLst/>
            <a:ahLst/>
            <a:cxnLst/>
            <a:rect l="l" t="t" r="r" b="b"/>
            <a:pathLst>
              <a:path w="2438400" h="200025">
                <a:moveTo>
                  <a:pt x="2405352" y="200024"/>
                </a:moveTo>
                <a:lnTo>
                  <a:pt x="33047" y="200024"/>
                </a:lnTo>
                <a:lnTo>
                  <a:pt x="28187" y="199058"/>
                </a:lnTo>
                <a:lnTo>
                  <a:pt x="966" y="171837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405352" y="0"/>
                </a:lnTo>
                <a:lnTo>
                  <a:pt x="2437432" y="28187"/>
                </a:lnTo>
                <a:lnTo>
                  <a:pt x="2438399" y="33047"/>
                </a:lnTo>
                <a:lnTo>
                  <a:pt x="2438399" y="166977"/>
                </a:lnTo>
                <a:lnTo>
                  <a:pt x="2410211" y="199058"/>
                </a:lnTo>
                <a:lnTo>
                  <a:pt x="2405352" y="200024"/>
                </a:lnTo>
                <a:close/>
              </a:path>
            </a:pathLst>
          </a:custGeom>
          <a:solidFill>
            <a:srgbClr val="FFE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9599" y="1028699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8100" h="190500">
                <a:moveTo>
                  <a:pt x="38099" y="190499"/>
                </a:moveTo>
                <a:lnTo>
                  <a:pt x="0" y="190499"/>
                </a:lnTo>
                <a:lnTo>
                  <a:pt x="0" y="0"/>
                </a:lnTo>
                <a:lnTo>
                  <a:pt x="38099" y="0"/>
                </a:lnTo>
                <a:lnTo>
                  <a:pt x="38099" y="1904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94900" y="1028699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8100" h="190500">
                <a:moveTo>
                  <a:pt x="38099" y="190499"/>
                </a:moveTo>
                <a:lnTo>
                  <a:pt x="0" y="190499"/>
                </a:lnTo>
                <a:lnTo>
                  <a:pt x="0" y="0"/>
                </a:lnTo>
                <a:lnTo>
                  <a:pt x="38099" y="0"/>
                </a:lnTo>
                <a:lnTo>
                  <a:pt x="38099" y="190499"/>
                </a:lnTo>
                <a:close/>
              </a:path>
            </a:pathLst>
          </a:custGeom>
          <a:solidFill>
            <a:srgbClr val="336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96930" y="733421"/>
            <a:ext cx="11048319" cy="2000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Trip.com</a:t>
            </a:r>
            <a:r>
              <a:rPr sz="1200" b="1" spc="-2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1200" b="1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200" b="1" spc="33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sz="1200" b="1" spc="-2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brand</a:t>
            </a:r>
            <a:r>
              <a:rPr sz="1200" b="1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sz="1200" b="1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triple</a:t>
            </a:r>
            <a:r>
              <a:rPr sz="1200" b="1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r>
              <a:rPr sz="1200" b="1" spc="33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(CSAT+NPS+thumbs</a:t>
            </a:r>
            <a:r>
              <a:rPr sz="1200" b="1" spc="-2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up/down)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4465">
              <a:lnSpc>
                <a:spcPct val="100000"/>
              </a:lnSpc>
              <a:spcBef>
                <a:spcPts val="960"/>
              </a:spcBef>
              <a:tabLst>
                <a:tab pos="5650865" algn="l"/>
              </a:tabLst>
            </a:pPr>
            <a:endParaRPr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30899" y="5454253"/>
            <a:ext cx="3182238" cy="599369"/>
          </a:xfrm>
          <a:prstGeom prst="rect">
            <a:avLst/>
          </a:prstGeom>
        </p:spPr>
        <p:txBody>
          <a:bodyPr vert="horz" wrap="square" lIns="0" tIns="81280" rIns="0" bIns="0" rtlCol="0">
            <a:noAutofit/>
          </a:bodyPr>
          <a:lstStyle/>
          <a:p>
            <a:pPr marL="335915" marR="5080" indent="-171450">
              <a:lnSpc>
                <a:spcPct val="111000"/>
              </a:lnSpc>
              <a:spcBef>
                <a:spcPts val="345"/>
              </a:spcBef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quality feedback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sz="900" spc="-1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5915" marR="5080" indent="-171450">
              <a:lnSpc>
                <a:spcPct val="111000"/>
              </a:lnSpc>
              <a:spcBef>
                <a:spcPts val="345"/>
              </a:spcBef>
              <a:buFont typeface="Arial" panose="020B0604020202020204" pitchFamily="34" charset="0"/>
              <a:buChar char="•"/>
            </a:pPr>
            <a:r>
              <a:rPr lang="en-US" altLang="zh-CN" sz="900">
                <a:latin typeface="Arial" panose="020B0604020202020204" pitchFamily="34" charset="0"/>
                <a:cs typeface="Arial" panose="020B0604020202020204" pitchFamily="34" charset="0"/>
              </a:rPr>
              <a:t>Clearer differentiation between evaluation methods </a:t>
            </a:r>
            <a:endParaRPr lang="en-US" altLang="zh-CN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01802" y="5533825"/>
            <a:ext cx="3659572" cy="519823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84150" marR="5080" indent="-171450">
              <a:lnSpc>
                <a:spcPct val="111000"/>
              </a:lnSpc>
              <a:spcBef>
                <a:spcPts val="100"/>
              </a:spcBef>
              <a:buChar char="•"/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targeting of specific improvement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areas</a:t>
            </a:r>
            <a:r>
              <a:rPr sz="900" spc="5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900" spc="5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4150" marR="5080" indent="-171450">
              <a:lnSpc>
                <a:spcPct val="111000"/>
              </a:lnSpc>
              <a:spcBef>
                <a:spcPts val="100"/>
              </a:spcBef>
              <a:buChar char="•"/>
            </a:pPr>
            <a:r>
              <a:rPr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Enhanced user experience throughout feedback </a:t>
            </a:r>
            <a:r>
              <a:rPr sz="90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" name="Group 67"/>
          <p:cNvGrpSpPr/>
          <p:nvPr userDrawn="1"/>
        </p:nvGrpSpPr>
        <p:grpSpPr>
          <a:xfrm>
            <a:off x="596920" y="3371330"/>
            <a:ext cx="3102543" cy="1324911"/>
            <a:chOff x="875" y="5393"/>
            <a:chExt cx="4886" cy="2086"/>
          </a:xfrm>
        </p:grpSpPr>
        <p:grpSp>
          <p:nvGrpSpPr>
            <p:cNvPr id="11" name="object 11"/>
            <p:cNvGrpSpPr/>
            <p:nvPr/>
          </p:nvGrpSpPr>
          <p:grpSpPr>
            <a:xfrm>
              <a:off x="875" y="5393"/>
              <a:ext cx="4886" cy="2086"/>
              <a:chOff x="614362" y="1719262"/>
              <a:chExt cx="3102543" cy="1324911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614362" y="1719262"/>
                <a:ext cx="3102543" cy="1324909"/>
              </a:xfrm>
              <a:custGeom>
                <a:avLst/>
                <a:gdLst/>
                <a:ahLst/>
                <a:cxnLst/>
                <a:rect l="l" t="t" r="r" b="b"/>
                <a:pathLst>
                  <a:path w="3533775" h="1466850">
                    <a:moveTo>
                      <a:pt x="3467027" y="1466849"/>
                    </a:moveTo>
                    <a:lnTo>
                      <a:pt x="66746" y="1466849"/>
                    </a:lnTo>
                    <a:lnTo>
                      <a:pt x="62101" y="1466392"/>
                    </a:lnTo>
                    <a:lnTo>
                      <a:pt x="24240" y="1449242"/>
                    </a:lnTo>
                    <a:lnTo>
                      <a:pt x="2287" y="1413949"/>
                    </a:lnTo>
                    <a:lnTo>
                      <a:pt x="0" y="1400102"/>
                    </a:lnTo>
                    <a:lnTo>
                      <a:pt x="0" y="1395412"/>
                    </a:lnTo>
                    <a:lnTo>
                      <a:pt x="0" y="66746"/>
                    </a:lnTo>
                    <a:lnTo>
                      <a:pt x="14645" y="27848"/>
                    </a:lnTo>
                    <a:lnTo>
                      <a:pt x="48433" y="3642"/>
                    </a:lnTo>
                    <a:lnTo>
                      <a:pt x="66746" y="0"/>
                    </a:lnTo>
                    <a:lnTo>
                      <a:pt x="3467027" y="0"/>
                    </a:lnTo>
                    <a:lnTo>
                      <a:pt x="3505925" y="14645"/>
                    </a:lnTo>
                    <a:lnTo>
                      <a:pt x="3530131" y="48432"/>
                    </a:lnTo>
                    <a:lnTo>
                      <a:pt x="3533774" y="66746"/>
                    </a:lnTo>
                    <a:lnTo>
                      <a:pt x="3533774" y="1400102"/>
                    </a:lnTo>
                    <a:lnTo>
                      <a:pt x="3519128" y="1439000"/>
                    </a:lnTo>
                    <a:lnTo>
                      <a:pt x="3485341" y="1463206"/>
                    </a:lnTo>
                    <a:lnTo>
                      <a:pt x="3471673" y="1466392"/>
                    </a:lnTo>
                    <a:lnTo>
                      <a:pt x="3467027" y="1466849"/>
                    </a:lnTo>
                    <a:close/>
                  </a:path>
                </a:pathLst>
              </a:custGeom>
              <a:solidFill>
                <a:srgbClr val="EFF5FF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3" name="object 13"/>
              <p:cNvSpPr/>
              <p:nvPr/>
            </p:nvSpPr>
            <p:spPr>
              <a:xfrm>
                <a:off x="614362" y="1719262"/>
                <a:ext cx="3102531" cy="1324911"/>
              </a:xfrm>
              <a:custGeom>
                <a:avLst/>
                <a:gdLst/>
                <a:ahLst/>
                <a:cxnLst/>
                <a:rect l="l" t="t" r="r" b="b"/>
                <a:pathLst>
                  <a:path w="3533775" h="1466850">
                    <a:moveTo>
                      <a:pt x="0" y="1395412"/>
                    </a:moveTo>
                    <a:lnTo>
                      <a:pt x="0" y="71437"/>
                    </a:lnTo>
                    <a:lnTo>
                      <a:pt x="0" y="66746"/>
                    </a:lnTo>
                    <a:lnTo>
                      <a:pt x="457" y="62101"/>
                    </a:lnTo>
                    <a:lnTo>
                      <a:pt x="17606" y="24240"/>
                    </a:lnTo>
                    <a:lnTo>
                      <a:pt x="20923" y="20923"/>
                    </a:lnTo>
                    <a:lnTo>
                      <a:pt x="24240" y="17606"/>
                    </a:lnTo>
                    <a:lnTo>
                      <a:pt x="62101" y="457"/>
                    </a:lnTo>
                    <a:lnTo>
                      <a:pt x="66746" y="0"/>
                    </a:lnTo>
                    <a:lnTo>
                      <a:pt x="71437" y="0"/>
                    </a:lnTo>
                    <a:lnTo>
                      <a:pt x="3462337" y="0"/>
                    </a:lnTo>
                    <a:lnTo>
                      <a:pt x="3467027" y="0"/>
                    </a:lnTo>
                    <a:lnTo>
                      <a:pt x="3471673" y="457"/>
                    </a:lnTo>
                    <a:lnTo>
                      <a:pt x="3509534" y="17606"/>
                    </a:lnTo>
                    <a:lnTo>
                      <a:pt x="3531486" y="52899"/>
                    </a:lnTo>
                    <a:lnTo>
                      <a:pt x="3533774" y="71437"/>
                    </a:lnTo>
                    <a:lnTo>
                      <a:pt x="3533774" y="1395412"/>
                    </a:lnTo>
                    <a:lnTo>
                      <a:pt x="3533774" y="1400102"/>
                    </a:lnTo>
                    <a:lnTo>
                      <a:pt x="3533316" y="1404748"/>
                    </a:lnTo>
                    <a:lnTo>
                      <a:pt x="3532401" y="1409349"/>
                    </a:lnTo>
                    <a:lnTo>
                      <a:pt x="3531486" y="1413949"/>
                    </a:lnTo>
                    <a:lnTo>
                      <a:pt x="3521734" y="1435100"/>
                    </a:lnTo>
                    <a:lnTo>
                      <a:pt x="3519128" y="1439000"/>
                    </a:lnTo>
                    <a:lnTo>
                      <a:pt x="3485341" y="1463206"/>
                    </a:lnTo>
                    <a:lnTo>
                      <a:pt x="3462337" y="1466849"/>
                    </a:lnTo>
                    <a:lnTo>
                      <a:pt x="71437" y="1466849"/>
                    </a:lnTo>
                    <a:lnTo>
                      <a:pt x="31748" y="1454810"/>
                    </a:lnTo>
                    <a:lnTo>
                      <a:pt x="5437" y="1422749"/>
                    </a:lnTo>
                    <a:lnTo>
                      <a:pt x="0" y="1400102"/>
                    </a:lnTo>
                    <a:lnTo>
                      <a:pt x="0" y="1395412"/>
                    </a:lnTo>
                    <a:close/>
                  </a:path>
                </a:pathLst>
              </a:custGeom>
              <a:ln w="9524">
                <a:solidFill>
                  <a:srgbClr val="DFDFD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42" name="object 42"/>
            <p:cNvSpPr/>
            <p:nvPr/>
          </p:nvSpPr>
          <p:spPr>
            <a:xfrm>
              <a:off x="1240" y="5498"/>
              <a:ext cx="4155" cy="1245"/>
            </a:xfrm>
            <a:custGeom>
              <a:avLst/>
              <a:gdLst/>
              <a:ahLst/>
              <a:cxnLst/>
              <a:rect l="l" t="t" r="r" b="b"/>
              <a:pathLst>
                <a:path w="2638425" h="790575">
                  <a:moveTo>
                    <a:pt x="2531629" y="790574"/>
                  </a:moveTo>
                  <a:lnTo>
                    <a:pt x="106794" y="790574"/>
                  </a:lnTo>
                  <a:lnTo>
                    <a:pt x="99362" y="789842"/>
                  </a:lnTo>
                  <a:lnTo>
                    <a:pt x="57038" y="775481"/>
                  </a:lnTo>
                  <a:lnTo>
                    <a:pt x="23432" y="746016"/>
                  </a:lnTo>
                  <a:lnTo>
                    <a:pt x="3660" y="705934"/>
                  </a:lnTo>
                  <a:lnTo>
                    <a:pt x="0" y="683779"/>
                  </a:lnTo>
                  <a:lnTo>
                    <a:pt x="0" y="676274"/>
                  </a:lnTo>
                  <a:lnTo>
                    <a:pt x="0" y="0"/>
                  </a:lnTo>
                  <a:lnTo>
                    <a:pt x="2531629" y="0"/>
                  </a:lnTo>
                  <a:lnTo>
                    <a:pt x="2539062" y="732"/>
                  </a:lnTo>
                  <a:lnTo>
                    <a:pt x="2581385" y="15093"/>
                  </a:lnTo>
                  <a:lnTo>
                    <a:pt x="2614991" y="44557"/>
                  </a:lnTo>
                  <a:lnTo>
                    <a:pt x="2634763" y="84640"/>
                  </a:lnTo>
                  <a:lnTo>
                    <a:pt x="2638424" y="106794"/>
                  </a:lnTo>
                  <a:lnTo>
                    <a:pt x="2638424" y="683779"/>
                  </a:lnTo>
                  <a:lnTo>
                    <a:pt x="2626851" y="726949"/>
                  </a:lnTo>
                  <a:lnTo>
                    <a:pt x="2599639" y="762403"/>
                  </a:lnTo>
                  <a:lnTo>
                    <a:pt x="2560931" y="784745"/>
                  </a:lnTo>
                  <a:lnTo>
                    <a:pt x="2539062" y="789842"/>
                  </a:lnTo>
                  <a:lnTo>
                    <a:pt x="2531629" y="790574"/>
                  </a:lnTo>
                  <a:close/>
                </a:path>
              </a:pathLst>
            </a:custGeom>
            <a:solidFill>
              <a:srgbClr val="E7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 txBox="1"/>
            <p:nvPr/>
          </p:nvSpPr>
          <p:spPr>
            <a:xfrm>
              <a:off x="1337" y="5539"/>
              <a:ext cx="3961" cy="1124"/>
            </a:xfrm>
            <a:prstGeom prst="rect">
              <a:avLst/>
            </a:prstGeom>
          </p:spPr>
          <p:txBody>
            <a:bodyPr vert="horz" wrap="square" lIns="0" tIns="23495" rIns="0" bIns="0" rtlCol="0">
              <a:noAutofit/>
            </a:bodyPr>
            <a:lstStyle/>
            <a:p>
              <a:pPr marL="126365" marR="5080">
                <a:lnSpc>
                  <a:spcPct val="131000"/>
                </a:lnSpc>
                <a:spcBef>
                  <a:spcPts val="185"/>
                </a:spcBef>
              </a:pP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Thank you</a:t>
              </a:r>
              <a:r>
                <a:rPr sz="900" spc="5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  <a:r>
                <a:rPr sz="900" spc="5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using</a:t>
              </a:r>
              <a:r>
                <a:rPr sz="900" spc="-2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Trip.com's</a:t>
              </a:r>
              <a:r>
                <a:rPr sz="900" spc="-45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AI</a:t>
              </a:r>
              <a:r>
                <a:rPr sz="900" spc="5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assistant! How would you rate your </a:t>
              </a:r>
              <a:r>
                <a:rPr sz="90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experience?</a:t>
              </a: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26365">
                <a:lnSpc>
                  <a:spcPct val="100000"/>
                </a:lnSpc>
                <a:spcBef>
                  <a:spcPts val="245"/>
                </a:spcBef>
              </a:pPr>
              <a:r>
                <a:rPr sz="1600" dirty="0">
                  <a:solidFill>
                    <a:srgbClr val="AAAAA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😞</a:t>
              </a:r>
              <a:r>
                <a:rPr sz="1600" spc="-60" dirty="0">
                  <a:solidFill>
                    <a:srgbClr val="AAAAA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600" dirty="0">
                  <a:solidFill>
                    <a:srgbClr val="AAAAA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😐</a:t>
              </a:r>
              <a:r>
                <a:rPr sz="1600" spc="-60" dirty="0">
                  <a:solidFill>
                    <a:srgbClr val="AAAAA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600" dirty="0">
                  <a:solidFill>
                    <a:srgbClr val="3364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😊</a:t>
              </a:r>
              <a:r>
                <a:rPr sz="1600" spc="-60" dirty="0">
                  <a:solidFill>
                    <a:srgbClr val="3364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600" dirty="0">
                  <a:solidFill>
                    <a:srgbClr val="AAAAA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😃</a:t>
              </a:r>
              <a:r>
                <a:rPr sz="1600" spc="-60" dirty="0">
                  <a:solidFill>
                    <a:srgbClr val="AAAAA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600" spc="-50" dirty="0">
                  <a:solidFill>
                    <a:srgbClr val="AAAAA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😍</a:t>
              </a:r>
              <a:endParaRPr sz="16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2700">
                <a:lnSpc>
                  <a:spcPct val="100000"/>
                </a:lnSpc>
                <a:spcBef>
                  <a:spcPts val="1330"/>
                </a:spcBef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2" name="Group 61"/>
          <p:cNvGrpSpPr/>
          <p:nvPr userDrawn="1"/>
        </p:nvGrpSpPr>
        <p:grpSpPr>
          <a:xfrm>
            <a:off x="8064618" y="3375775"/>
            <a:ext cx="3102518" cy="1320166"/>
            <a:chOff x="6478" y="5393"/>
            <a:chExt cx="4886" cy="2079"/>
          </a:xfrm>
        </p:grpSpPr>
        <p:grpSp>
          <p:nvGrpSpPr>
            <p:cNvPr id="14" name="object 14"/>
            <p:cNvGrpSpPr/>
            <p:nvPr/>
          </p:nvGrpSpPr>
          <p:grpSpPr>
            <a:xfrm>
              <a:off x="6478" y="5393"/>
              <a:ext cx="4886" cy="2079"/>
              <a:chOff x="4271962" y="1875471"/>
              <a:chExt cx="3102518" cy="1320166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4271962" y="1875471"/>
                <a:ext cx="3102518" cy="1320166"/>
              </a:xfrm>
              <a:custGeom>
                <a:avLst/>
                <a:gdLst/>
                <a:ahLst/>
                <a:cxnLst/>
                <a:rect l="l" t="t" r="r" b="b"/>
                <a:pathLst>
                  <a:path w="3533775" h="1476375">
                    <a:moveTo>
                      <a:pt x="3467027" y="1476374"/>
                    </a:moveTo>
                    <a:lnTo>
                      <a:pt x="66746" y="1476374"/>
                    </a:lnTo>
                    <a:lnTo>
                      <a:pt x="62101" y="1475917"/>
                    </a:lnTo>
                    <a:lnTo>
                      <a:pt x="24240" y="1458767"/>
                    </a:lnTo>
                    <a:lnTo>
                      <a:pt x="2287" y="1423474"/>
                    </a:lnTo>
                    <a:lnTo>
                      <a:pt x="0" y="1409627"/>
                    </a:lnTo>
                    <a:lnTo>
                      <a:pt x="0" y="1404937"/>
                    </a:lnTo>
                    <a:lnTo>
                      <a:pt x="0" y="66746"/>
                    </a:lnTo>
                    <a:lnTo>
                      <a:pt x="14645" y="27848"/>
                    </a:lnTo>
                    <a:lnTo>
                      <a:pt x="48432" y="3642"/>
                    </a:lnTo>
                    <a:lnTo>
                      <a:pt x="66746" y="0"/>
                    </a:lnTo>
                    <a:lnTo>
                      <a:pt x="3467027" y="0"/>
                    </a:lnTo>
                    <a:lnTo>
                      <a:pt x="3505925" y="14645"/>
                    </a:lnTo>
                    <a:lnTo>
                      <a:pt x="3530130" y="48432"/>
                    </a:lnTo>
                    <a:lnTo>
                      <a:pt x="3533774" y="66746"/>
                    </a:lnTo>
                    <a:lnTo>
                      <a:pt x="3533774" y="1409627"/>
                    </a:lnTo>
                    <a:lnTo>
                      <a:pt x="3519128" y="1448525"/>
                    </a:lnTo>
                    <a:lnTo>
                      <a:pt x="3485341" y="1472731"/>
                    </a:lnTo>
                    <a:lnTo>
                      <a:pt x="3471673" y="1475917"/>
                    </a:lnTo>
                    <a:lnTo>
                      <a:pt x="3467027" y="1476374"/>
                    </a:lnTo>
                    <a:close/>
                  </a:path>
                </a:pathLst>
              </a:custGeom>
              <a:solidFill>
                <a:srgbClr val="FFFAEB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6" name="object 16"/>
              <p:cNvSpPr/>
              <p:nvPr/>
            </p:nvSpPr>
            <p:spPr>
              <a:xfrm>
                <a:off x="4271962" y="1875471"/>
                <a:ext cx="3102518" cy="1320166"/>
              </a:xfrm>
              <a:custGeom>
                <a:avLst/>
                <a:gdLst/>
                <a:ahLst/>
                <a:cxnLst/>
                <a:rect l="l" t="t" r="r" b="b"/>
                <a:pathLst>
                  <a:path w="3533775" h="1476375">
                    <a:moveTo>
                      <a:pt x="0" y="1404937"/>
                    </a:moveTo>
                    <a:lnTo>
                      <a:pt x="0" y="71437"/>
                    </a:lnTo>
                    <a:lnTo>
                      <a:pt x="0" y="66746"/>
                    </a:lnTo>
                    <a:lnTo>
                      <a:pt x="457" y="62101"/>
                    </a:lnTo>
                    <a:lnTo>
                      <a:pt x="1372" y="57500"/>
                    </a:lnTo>
                    <a:lnTo>
                      <a:pt x="2287" y="52899"/>
                    </a:lnTo>
                    <a:lnTo>
                      <a:pt x="3642" y="48432"/>
                    </a:lnTo>
                    <a:lnTo>
                      <a:pt x="5437" y="44099"/>
                    </a:lnTo>
                    <a:lnTo>
                      <a:pt x="7232" y="39765"/>
                    </a:lnTo>
                    <a:lnTo>
                      <a:pt x="9432" y="35648"/>
                    </a:lnTo>
                    <a:lnTo>
                      <a:pt x="12039" y="31748"/>
                    </a:lnTo>
                    <a:lnTo>
                      <a:pt x="14645" y="27848"/>
                    </a:lnTo>
                    <a:lnTo>
                      <a:pt x="17606" y="24240"/>
                    </a:lnTo>
                    <a:lnTo>
                      <a:pt x="20923" y="20923"/>
                    </a:lnTo>
                    <a:lnTo>
                      <a:pt x="24240" y="17606"/>
                    </a:lnTo>
                    <a:lnTo>
                      <a:pt x="27848" y="14645"/>
                    </a:lnTo>
                    <a:lnTo>
                      <a:pt x="66746" y="0"/>
                    </a:lnTo>
                    <a:lnTo>
                      <a:pt x="71437" y="0"/>
                    </a:lnTo>
                    <a:lnTo>
                      <a:pt x="3462337" y="0"/>
                    </a:lnTo>
                    <a:lnTo>
                      <a:pt x="3467027" y="0"/>
                    </a:lnTo>
                    <a:lnTo>
                      <a:pt x="3471673" y="457"/>
                    </a:lnTo>
                    <a:lnTo>
                      <a:pt x="3502024" y="12039"/>
                    </a:lnTo>
                    <a:lnTo>
                      <a:pt x="3505925" y="14645"/>
                    </a:lnTo>
                    <a:lnTo>
                      <a:pt x="3509533" y="17606"/>
                    </a:lnTo>
                    <a:lnTo>
                      <a:pt x="3512850" y="20923"/>
                    </a:lnTo>
                    <a:lnTo>
                      <a:pt x="3516167" y="24240"/>
                    </a:lnTo>
                    <a:lnTo>
                      <a:pt x="3533316" y="62101"/>
                    </a:lnTo>
                    <a:lnTo>
                      <a:pt x="3533774" y="71437"/>
                    </a:lnTo>
                    <a:lnTo>
                      <a:pt x="3533774" y="1404937"/>
                    </a:lnTo>
                    <a:lnTo>
                      <a:pt x="3533774" y="1409627"/>
                    </a:lnTo>
                    <a:lnTo>
                      <a:pt x="3533316" y="1414273"/>
                    </a:lnTo>
                    <a:lnTo>
                      <a:pt x="3532400" y="1418873"/>
                    </a:lnTo>
                    <a:lnTo>
                      <a:pt x="3531485" y="1423474"/>
                    </a:lnTo>
                    <a:lnTo>
                      <a:pt x="3509533" y="1458767"/>
                    </a:lnTo>
                    <a:lnTo>
                      <a:pt x="3476273" y="1475001"/>
                    </a:lnTo>
                    <a:lnTo>
                      <a:pt x="3471673" y="1475917"/>
                    </a:lnTo>
                    <a:lnTo>
                      <a:pt x="3467027" y="1476374"/>
                    </a:lnTo>
                    <a:lnTo>
                      <a:pt x="3462337" y="1476374"/>
                    </a:lnTo>
                    <a:lnTo>
                      <a:pt x="71437" y="1476374"/>
                    </a:lnTo>
                    <a:lnTo>
                      <a:pt x="66746" y="1476374"/>
                    </a:lnTo>
                    <a:lnTo>
                      <a:pt x="62101" y="1475917"/>
                    </a:lnTo>
                    <a:lnTo>
                      <a:pt x="57500" y="1475001"/>
                    </a:lnTo>
                    <a:lnTo>
                      <a:pt x="52899" y="1474086"/>
                    </a:lnTo>
                    <a:lnTo>
                      <a:pt x="31748" y="1464334"/>
                    </a:lnTo>
                    <a:lnTo>
                      <a:pt x="27848" y="1461728"/>
                    </a:lnTo>
                    <a:lnTo>
                      <a:pt x="24240" y="1458767"/>
                    </a:lnTo>
                    <a:lnTo>
                      <a:pt x="20923" y="1455451"/>
                    </a:lnTo>
                    <a:lnTo>
                      <a:pt x="17606" y="1452134"/>
                    </a:lnTo>
                    <a:lnTo>
                      <a:pt x="5437" y="1432274"/>
                    </a:lnTo>
                    <a:lnTo>
                      <a:pt x="3642" y="1427940"/>
                    </a:lnTo>
                    <a:lnTo>
                      <a:pt x="2287" y="1423474"/>
                    </a:lnTo>
                    <a:lnTo>
                      <a:pt x="1372" y="1418873"/>
                    </a:lnTo>
                    <a:lnTo>
                      <a:pt x="457" y="1414273"/>
                    </a:lnTo>
                    <a:lnTo>
                      <a:pt x="0" y="1409627"/>
                    </a:lnTo>
                    <a:lnTo>
                      <a:pt x="0" y="1404937"/>
                    </a:lnTo>
                    <a:close/>
                  </a:path>
                </a:pathLst>
              </a:custGeom>
              <a:ln w="9524">
                <a:solidFill>
                  <a:srgbClr val="DFDFD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grpSp>
          <p:nvGrpSpPr>
            <p:cNvPr id="44" name="object 44"/>
            <p:cNvGrpSpPr/>
            <p:nvPr/>
          </p:nvGrpSpPr>
          <p:grpSpPr>
            <a:xfrm>
              <a:off x="6623" y="5765"/>
              <a:ext cx="4582" cy="1260"/>
              <a:chOff x="4364089" y="2111381"/>
              <a:chExt cx="2909378" cy="800100"/>
            </a:xfrm>
          </p:grpSpPr>
          <p:sp>
            <p:nvSpPr>
              <p:cNvPr id="45" name="object 45"/>
              <p:cNvSpPr/>
              <p:nvPr/>
            </p:nvSpPr>
            <p:spPr>
              <a:xfrm>
                <a:off x="4364089" y="2111381"/>
                <a:ext cx="2909378" cy="800100"/>
              </a:xfrm>
              <a:custGeom>
                <a:avLst/>
                <a:gdLst/>
                <a:ahLst/>
                <a:cxnLst/>
                <a:rect l="l" t="t" r="r" b="b"/>
                <a:pathLst>
                  <a:path w="2638425" h="800100">
                    <a:moveTo>
                      <a:pt x="2531629" y="800099"/>
                    </a:moveTo>
                    <a:lnTo>
                      <a:pt x="106795" y="800099"/>
                    </a:lnTo>
                    <a:lnTo>
                      <a:pt x="99361" y="799367"/>
                    </a:lnTo>
                    <a:lnTo>
                      <a:pt x="57038" y="785006"/>
                    </a:lnTo>
                    <a:lnTo>
                      <a:pt x="23432" y="755541"/>
                    </a:lnTo>
                    <a:lnTo>
                      <a:pt x="3660" y="715459"/>
                    </a:lnTo>
                    <a:lnTo>
                      <a:pt x="0" y="693304"/>
                    </a:lnTo>
                    <a:lnTo>
                      <a:pt x="0" y="685799"/>
                    </a:lnTo>
                    <a:lnTo>
                      <a:pt x="0" y="0"/>
                    </a:lnTo>
                    <a:lnTo>
                      <a:pt x="2531629" y="0"/>
                    </a:lnTo>
                    <a:lnTo>
                      <a:pt x="2539062" y="732"/>
                    </a:lnTo>
                    <a:lnTo>
                      <a:pt x="2581384" y="15093"/>
                    </a:lnTo>
                    <a:lnTo>
                      <a:pt x="2614991" y="44557"/>
                    </a:lnTo>
                    <a:lnTo>
                      <a:pt x="2634764" y="84640"/>
                    </a:lnTo>
                    <a:lnTo>
                      <a:pt x="2638424" y="106794"/>
                    </a:lnTo>
                    <a:lnTo>
                      <a:pt x="2638424" y="693304"/>
                    </a:lnTo>
                    <a:lnTo>
                      <a:pt x="2626850" y="736473"/>
                    </a:lnTo>
                    <a:lnTo>
                      <a:pt x="2599639" y="771928"/>
                    </a:lnTo>
                    <a:lnTo>
                      <a:pt x="2560931" y="794270"/>
                    </a:lnTo>
                    <a:lnTo>
                      <a:pt x="2539062" y="799367"/>
                    </a:lnTo>
                    <a:lnTo>
                      <a:pt x="2531629" y="800099"/>
                    </a:lnTo>
                    <a:close/>
                  </a:path>
                </a:pathLst>
              </a:custGeom>
              <a:solidFill>
                <a:srgbClr val="E7F1FF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6" name="object 46"/>
              <p:cNvSpPr/>
              <p:nvPr/>
            </p:nvSpPr>
            <p:spPr>
              <a:xfrm>
                <a:off x="5089850" y="2590584"/>
                <a:ext cx="10001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209550">
                    <a:moveTo>
                      <a:pt x="967076" y="209549"/>
                    </a:moveTo>
                    <a:lnTo>
                      <a:pt x="33047" y="209549"/>
                    </a:lnTo>
                    <a:lnTo>
                      <a:pt x="28187" y="208582"/>
                    </a:lnTo>
                    <a:lnTo>
                      <a:pt x="966" y="181361"/>
                    </a:lnTo>
                    <a:lnTo>
                      <a:pt x="0" y="176502"/>
                    </a:lnTo>
                    <a:lnTo>
                      <a:pt x="0" y="171449"/>
                    </a:lnTo>
                    <a:lnTo>
                      <a:pt x="0" y="33047"/>
                    </a:lnTo>
                    <a:lnTo>
                      <a:pt x="28187" y="966"/>
                    </a:lnTo>
                    <a:lnTo>
                      <a:pt x="33047" y="0"/>
                    </a:lnTo>
                    <a:lnTo>
                      <a:pt x="967076" y="0"/>
                    </a:lnTo>
                    <a:lnTo>
                      <a:pt x="999158" y="28187"/>
                    </a:lnTo>
                    <a:lnTo>
                      <a:pt x="1000124" y="33047"/>
                    </a:lnTo>
                    <a:lnTo>
                      <a:pt x="1000124" y="176502"/>
                    </a:lnTo>
                    <a:lnTo>
                      <a:pt x="971937" y="208582"/>
                    </a:lnTo>
                    <a:lnTo>
                      <a:pt x="967076" y="209549"/>
                    </a:lnTo>
                    <a:close/>
                  </a:path>
                </a:pathLst>
              </a:custGeom>
              <a:solidFill>
                <a:srgbClr val="3364FF"/>
              </a:solidFill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47" name="object 47"/>
            <p:cNvSpPr txBox="1"/>
            <p:nvPr/>
          </p:nvSpPr>
          <p:spPr>
            <a:xfrm>
              <a:off x="7963" y="6564"/>
              <a:ext cx="1306" cy="240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5"/>
                </a:spcBef>
              </a:pPr>
              <a:r>
                <a:rPr sz="900" spc="-2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Take</a:t>
              </a:r>
              <a:r>
                <a:rPr sz="900" spc="-15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Survey</a:t>
              </a:r>
              <a:r>
                <a:rPr sz="900" spc="-15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sz="10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6655" y="5781"/>
              <a:ext cx="4550" cy="625"/>
            </a:xfrm>
            <a:prstGeom prst="rect">
              <a:avLst/>
            </a:prstGeom>
          </p:spPr>
          <p:txBody>
            <a:bodyPr vert="horz" wrap="square" lIns="0" tIns="66040" rIns="0" bIns="0" rtlCol="0">
              <a:noAutofit/>
            </a:bodyPr>
            <a:lstStyle/>
            <a:p>
              <a:pPr marL="38100">
                <a:lnSpc>
                  <a:spcPct val="100000"/>
                </a:lnSpc>
                <a:spcBef>
                  <a:spcPts val="520"/>
                </a:spcBef>
                <a:tabLst>
                  <a:tab pos="3695065" algn="l"/>
                </a:tabLst>
              </a:pP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</a:t>
              </a:r>
              <a:r>
                <a:rPr sz="90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appreciate</a:t>
              </a:r>
              <a:r>
                <a:rPr sz="90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</a:t>
              </a:r>
              <a:r>
                <a:rPr sz="90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feedback!</a:t>
              </a: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8100">
                <a:lnSpc>
                  <a:spcPct val="100000"/>
                </a:lnSpc>
                <a:spcBef>
                  <a:spcPts val="420"/>
                </a:spcBef>
                <a:tabLst>
                  <a:tab pos="3799840" algn="l"/>
                  <a:tab pos="4276725" algn="l"/>
                  <a:tab pos="4973320" algn="l"/>
                </a:tabLst>
              </a:pPr>
              <a:r>
                <a:rPr lang="en-US" altLang="zh-CN"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 you mind s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har</a:t>
              </a:r>
              <a:r>
                <a:rPr lang="en-US" altLang="zh-CN"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ing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more thoughts to help us </a:t>
              </a:r>
              <a:r>
                <a:rPr sz="90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improve?</a:t>
              </a: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2" name="Text Box 51"/>
          <p:cNvSpPr txBox="1"/>
          <p:nvPr/>
        </p:nvSpPr>
        <p:spPr>
          <a:xfrm>
            <a:off x="596987" y="1812043"/>
            <a:ext cx="2336431" cy="255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1050" b="1" dirty="0">
                <a:solidFill>
                  <a:srgbClr val="1D40A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</a:t>
            </a:r>
            <a:r>
              <a:rPr sz="1050" b="1" spc="-55" dirty="0">
                <a:solidFill>
                  <a:srgbClr val="1D40A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50" b="1" dirty="0">
                <a:solidFill>
                  <a:srgbClr val="1D40A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Add</a:t>
            </a:r>
            <a:r>
              <a:rPr sz="1050" b="1" spc="-20" dirty="0">
                <a:solidFill>
                  <a:srgbClr val="1D40A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50" b="1" dirty="0">
                <a:solidFill>
                  <a:srgbClr val="1D40A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Feedback</a:t>
            </a:r>
            <a:r>
              <a:rPr sz="1050" b="1" spc="-15" dirty="0">
                <a:solidFill>
                  <a:srgbClr val="1D40A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50" b="1" spc="-10" dirty="0">
                <a:solidFill>
                  <a:srgbClr val="1D40A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Invitation</a:t>
            </a:r>
            <a:endParaRPr lang="en-US" altLang="zh-CN" sz="1050" b="1" dirty="0">
              <a:solidFill>
                <a:srgbClr val="1D40A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7977196" y="1812037"/>
            <a:ext cx="2000720" cy="255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sz="1050" b="1" dirty="0">
                <a:solidFill>
                  <a:srgbClr val="1D40A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Clear NPS Entry Point</a:t>
            </a:r>
            <a:endParaRPr lang="en-US" altLang="zh-CN" sz="1050" b="1" dirty="0">
              <a:solidFill>
                <a:srgbClr val="1D40A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200518" y="1812037"/>
            <a:ext cx="2767663" cy="255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sz="1050" b="1" dirty="0">
                <a:solidFill>
                  <a:srgbClr val="1D40A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 In-conversation Survey</a:t>
            </a:r>
            <a:endParaRPr lang="en-US" altLang="zh-CN" sz="1050" b="1" dirty="0">
              <a:solidFill>
                <a:srgbClr val="1D40A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5" name="Text Box 54"/>
          <p:cNvSpPr txBox="1"/>
          <p:nvPr/>
        </p:nvSpPr>
        <p:spPr>
          <a:xfrm>
            <a:off x="541832" y="1470211"/>
            <a:ext cx="3303436" cy="300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Key Optimization </a:t>
            </a:r>
            <a:r>
              <a:rPr sz="13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Strategies</a:t>
            </a:r>
            <a:endParaRPr lang="en-US" altLang="zh-CN" sz="1350" b="1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8" name="Text Box 57"/>
          <p:cNvSpPr txBox="1"/>
          <p:nvPr/>
        </p:nvSpPr>
        <p:spPr>
          <a:xfrm>
            <a:off x="635079" y="2086915"/>
            <a:ext cx="3336886" cy="113858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000" b="1">
                <a:sym typeface="+mn-ea"/>
              </a:rPr>
              <a:t>Current:</a:t>
            </a:r>
            <a:r>
              <a:rPr lang="en-US" altLang="zh-CN" sz="1000">
                <a:sym typeface="+mn-ea"/>
              </a:rPr>
              <a:t> </a:t>
            </a:r>
            <a:endParaRPr lang="en-US" altLang="zh-CN" sz="1000">
              <a:sym typeface="+mn-ea"/>
            </a:endParaRPr>
          </a:p>
          <a:p>
            <a:r>
              <a:rPr lang="en-US" altLang="zh-CN" sz="900">
                <a:sym typeface="+mn-ea"/>
              </a:rPr>
              <a:t>Users need to actively </a:t>
            </a:r>
            <a:r>
              <a:rPr lang="en-US" altLang="zh-CN" sz="900">
                <a:solidFill>
                  <a:srgbClr val="C00000"/>
                </a:solidFill>
                <a:sym typeface="+mn-ea"/>
              </a:rPr>
              <a:t>click the "give feedback" button.</a:t>
            </a:r>
            <a:endParaRPr lang="en-US" altLang="zh-CN" sz="900">
              <a:solidFill>
                <a:srgbClr val="C00000"/>
              </a:solidFill>
              <a:sym typeface="+mn-ea"/>
            </a:endParaRPr>
          </a:p>
          <a:p>
            <a:endParaRPr lang="en-US" altLang="zh-CN" sz="300">
              <a:solidFill>
                <a:srgbClr val="C00000"/>
              </a:solidFill>
            </a:endParaRPr>
          </a:p>
          <a:p>
            <a:r>
              <a:rPr lang="en-US" altLang="zh-CN" sz="1000" b="1">
                <a:sym typeface="+mn-ea"/>
              </a:rPr>
              <a:t>Proposed</a:t>
            </a:r>
            <a:r>
              <a:rPr lang="en-US" altLang="zh-CN" sz="1000">
                <a:sym typeface="+mn-ea"/>
              </a:rPr>
              <a:t>: </a:t>
            </a:r>
            <a:endParaRPr lang="en-US" altLang="zh-CN" sz="1000">
              <a:sym typeface="+mn-ea"/>
            </a:endParaRPr>
          </a:p>
          <a:p>
            <a:r>
              <a:rPr lang="en-US" altLang="zh-CN" sz="900">
                <a:solidFill>
                  <a:srgbClr val="3364FF"/>
                </a:solidFill>
                <a:sym typeface="+mn-ea"/>
              </a:rPr>
              <a:t>Add a script after AI session ends / before transferring to human</a:t>
            </a:r>
            <a:r>
              <a:rPr lang="en-US" altLang="zh-CN" sz="900">
                <a:sym typeface="+mn-ea"/>
              </a:rPr>
              <a:t> </a:t>
            </a:r>
            <a:r>
              <a:rPr lang="en-US" altLang="zh-CN" sz="900">
                <a:solidFill>
                  <a:srgbClr val="3364FF"/>
                </a:solidFill>
                <a:sym typeface="+mn-ea"/>
              </a:rPr>
              <a:t>agent</a:t>
            </a:r>
            <a:r>
              <a:rPr lang="en-US" altLang="zh-CN" sz="900">
                <a:solidFill>
                  <a:schemeClr val="tx1"/>
                </a:solidFill>
                <a:sym typeface="+mn-ea"/>
              </a:rPr>
              <a:t> and</a:t>
            </a:r>
            <a:r>
              <a:rPr lang="en-US" altLang="zh-CN" sz="900">
                <a:sym typeface="+mn-ea"/>
              </a:rPr>
              <a:t> </a:t>
            </a:r>
            <a:r>
              <a:rPr lang="en-US" altLang="zh-CN" sz="900">
                <a:solidFill>
                  <a:srgbClr val="3364FF"/>
                </a:solidFill>
                <a:sym typeface="+mn-ea"/>
              </a:rPr>
              <a:t>add a skip choice </a:t>
            </a:r>
            <a:r>
              <a:rPr lang="en-US" altLang="zh-CN" sz="800" i="1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(Reference: United Airlines)</a:t>
            </a:r>
            <a:endParaRPr lang="en-US" altLang="zh-CN" sz="800" i="1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  <a:p>
            <a:endParaRPr lang="en-US" altLang="zh-CN" sz="300" i="1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  <a:p>
            <a:r>
              <a:rPr lang="en-US" altLang="zh-CN" sz="1000" b="1"/>
              <a:t>Benefit</a:t>
            </a:r>
            <a:r>
              <a:rPr lang="en-US" altLang="zh-CN" sz="1000"/>
              <a:t>: </a:t>
            </a:r>
            <a:endParaRPr lang="en-US" altLang="zh-CN" sz="1000"/>
          </a:p>
          <a:p>
            <a:r>
              <a:rPr lang="en-US" altLang="zh-CN" sz="900"/>
              <a:t>Improves evaluation participation</a:t>
            </a:r>
            <a:endParaRPr lang="en-US" altLang="zh-CN" sz="900"/>
          </a:p>
        </p:txBody>
      </p:sp>
      <p:sp>
        <p:nvSpPr>
          <p:cNvPr id="60" name="Text Box 59"/>
          <p:cNvSpPr txBox="1"/>
          <p:nvPr/>
        </p:nvSpPr>
        <p:spPr>
          <a:xfrm>
            <a:off x="5652058" y="996342"/>
            <a:ext cx="5993166" cy="255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10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Weaknesses:</a:t>
            </a:r>
            <a:r>
              <a:rPr sz="1050" b="1" spc="-2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Weak visibility,</a:t>
            </a:r>
            <a:r>
              <a:rPr sz="1050" spc="-2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</a:t>
            </a:r>
            <a:r>
              <a:rPr lang="en-US" altLang="zh-CN"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nclear differentiation between surveys</a:t>
            </a:r>
            <a:r>
              <a:rPr lang="en-US" altLang="zh-CN"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low participation willingness</a:t>
            </a:r>
            <a:endParaRPr lang="en-US" altLang="zh-CN" sz="105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61" name="Text Box 60"/>
          <p:cNvSpPr txBox="1"/>
          <p:nvPr/>
        </p:nvSpPr>
        <p:spPr>
          <a:xfrm>
            <a:off x="668083" y="996312"/>
            <a:ext cx="3610525" cy="255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10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Strengths:</a:t>
            </a:r>
            <a:r>
              <a:rPr sz="1050" b="1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Comprehensive </a:t>
            </a:r>
            <a:r>
              <a:rPr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dimensions,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5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highest</a:t>
            </a:r>
            <a:r>
              <a:rPr sz="1050" spc="-5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50" spc="-1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flexibility</a:t>
            </a:r>
            <a:endParaRPr lang="en-US" altLang="zh-CN" sz="105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85" name="文本框 84"/>
          <p:cNvSpPr txBox="1"/>
          <p:nvPr userDrawn="1"/>
        </p:nvSpPr>
        <p:spPr>
          <a:xfrm>
            <a:off x="4265987" y="2101390"/>
            <a:ext cx="3468892" cy="10471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000" b="1"/>
              <a:t>Current:</a:t>
            </a:r>
            <a:r>
              <a:rPr lang="en-US" altLang="zh-CN" sz="1000"/>
              <a:t> </a:t>
            </a:r>
            <a:endParaRPr lang="en-US" altLang="zh-CN" sz="1000"/>
          </a:p>
          <a:p>
            <a:r>
              <a:rPr lang="en-US" altLang="zh-CN" sz="900"/>
              <a:t>Pop</a:t>
            </a:r>
            <a:r>
              <a:rPr lang="zh-CN" altLang="en-US" sz="900"/>
              <a:t>-</a:t>
            </a:r>
            <a:r>
              <a:rPr lang="en-US" altLang="zh-CN" sz="900"/>
              <a:t>up form causes </a:t>
            </a:r>
            <a:r>
              <a:rPr lang="en-US" altLang="zh-CN" sz="900">
                <a:solidFill>
                  <a:srgbClr val="C00000"/>
                </a:solidFill>
              </a:rPr>
              <a:t>fragmented user experience</a:t>
            </a:r>
            <a:endParaRPr lang="en-US" altLang="zh-CN" sz="900">
              <a:solidFill>
                <a:srgbClr val="C00000"/>
              </a:solidFill>
            </a:endParaRPr>
          </a:p>
          <a:p>
            <a:endParaRPr lang="en-US" altLang="zh-CN" sz="300">
              <a:solidFill>
                <a:srgbClr val="C00000"/>
              </a:solidFill>
            </a:endParaRPr>
          </a:p>
          <a:p>
            <a:r>
              <a:rPr lang="en-US" altLang="zh-CN" sz="1000" b="1"/>
              <a:t>Proposed</a:t>
            </a:r>
            <a:r>
              <a:rPr lang="en-US" altLang="zh-CN" sz="1000"/>
              <a:t>: </a:t>
            </a:r>
            <a:endParaRPr lang="en-US" altLang="zh-CN" sz="1000"/>
          </a:p>
          <a:p>
            <a:r>
              <a:rPr lang="en-US" altLang="zh-CN" sz="900">
                <a:solidFill>
                  <a:srgbClr val="3364FF"/>
                </a:solidFill>
              </a:rPr>
              <a:t>Display survey questions in-chat</a:t>
            </a:r>
            <a:r>
              <a:rPr lang="en-US" altLang="zh-CN" sz="900"/>
              <a:t>.</a:t>
            </a:r>
            <a:endParaRPr lang="en-US" altLang="zh-CN" sz="900"/>
          </a:p>
          <a:p>
            <a:endParaRPr lang="en-US" altLang="zh-CN" sz="300"/>
          </a:p>
          <a:p>
            <a:r>
              <a:rPr lang="en-US" altLang="zh-CN" sz="1000" b="1"/>
              <a:t>Benefit</a:t>
            </a:r>
            <a:r>
              <a:rPr lang="en-US" altLang="zh-CN" sz="1000"/>
              <a:t>: </a:t>
            </a:r>
            <a:endParaRPr lang="en-US" altLang="zh-CN" sz="1000"/>
          </a:p>
          <a:p>
            <a:r>
              <a:rPr lang="en-US" altLang="zh-CN" sz="900"/>
              <a:t>Lower response barrier without leaving current flow, increase CSAT visibility and boost user participation</a:t>
            </a:r>
            <a:endParaRPr lang="en-US" altLang="zh-CN"/>
          </a:p>
        </p:txBody>
      </p:sp>
      <p:grpSp>
        <p:nvGrpSpPr>
          <p:cNvPr id="69" name="Group 68"/>
          <p:cNvGrpSpPr/>
          <p:nvPr userDrawn="1"/>
        </p:nvGrpSpPr>
        <p:grpSpPr>
          <a:xfrm>
            <a:off x="4302185" y="3375775"/>
            <a:ext cx="3102610" cy="1329690"/>
            <a:chOff x="6795" y="5393"/>
            <a:chExt cx="4886" cy="2094"/>
          </a:xfrm>
        </p:grpSpPr>
        <p:grpSp>
          <p:nvGrpSpPr>
            <p:cNvPr id="18" name="object 18"/>
            <p:cNvGrpSpPr/>
            <p:nvPr/>
          </p:nvGrpSpPr>
          <p:grpSpPr>
            <a:xfrm>
              <a:off x="6795" y="5393"/>
              <a:ext cx="4886" cy="2094"/>
              <a:chOff x="7929560" y="1719262"/>
              <a:chExt cx="3102518" cy="1329688"/>
            </a:xfrm>
          </p:grpSpPr>
          <p:sp>
            <p:nvSpPr>
              <p:cNvPr id="19" name="object 19"/>
              <p:cNvSpPr/>
              <p:nvPr/>
            </p:nvSpPr>
            <p:spPr>
              <a:xfrm>
                <a:off x="7929560" y="1719262"/>
                <a:ext cx="3102518" cy="1329688"/>
              </a:xfrm>
              <a:custGeom>
                <a:avLst/>
                <a:gdLst/>
                <a:ahLst/>
                <a:cxnLst/>
                <a:rect l="l" t="t" r="r" b="b"/>
                <a:pathLst>
                  <a:path w="3648075" h="1247775">
                    <a:moveTo>
                      <a:pt x="3581328" y="1247774"/>
                    </a:moveTo>
                    <a:lnTo>
                      <a:pt x="66747" y="1247774"/>
                    </a:lnTo>
                    <a:lnTo>
                      <a:pt x="62100" y="1247317"/>
                    </a:lnTo>
                    <a:lnTo>
                      <a:pt x="24240" y="1230168"/>
                    </a:lnTo>
                    <a:lnTo>
                      <a:pt x="2287" y="1194874"/>
                    </a:lnTo>
                    <a:lnTo>
                      <a:pt x="0" y="1181028"/>
                    </a:lnTo>
                    <a:lnTo>
                      <a:pt x="0" y="1176337"/>
                    </a:lnTo>
                    <a:lnTo>
                      <a:pt x="0" y="66746"/>
                    </a:lnTo>
                    <a:lnTo>
                      <a:pt x="14645" y="27848"/>
                    </a:lnTo>
                    <a:lnTo>
                      <a:pt x="48432" y="3642"/>
                    </a:lnTo>
                    <a:lnTo>
                      <a:pt x="66747" y="0"/>
                    </a:lnTo>
                    <a:lnTo>
                      <a:pt x="3581328" y="0"/>
                    </a:lnTo>
                    <a:lnTo>
                      <a:pt x="3620224" y="14645"/>
                    </a:lnTo>
                    <a:lnTo>
                      <a:pt x="3644430" y="48432"/>
                    </a:lnTo>
                    <a:lnTo>
                      <a:pt x="3648075" y="66746"/>
                    </a:lnTo>
                    <a:lnTo>
                      <a:pt x="3648075" y="1181028"/>
                    </a:lnTo>
                    <a:lnTo>
                      <a:pt x="3633428" y="1219925"/>
                    </a:lnTo>
                    <a:lnTo>
                      <a:pt x="3599642" y="1244131"/>
                    </a:lnTo>
                    <a:lnTo>
                      <a:pt x="3585973" y="1247317"/>
                    </a:lnTo>
                    <a:lnTo>
                      <a:pt x="3581328" y="1247774"/>
                    </a:lnTo>
                    <a:close/>
                  </a:path>
                </a:pathLst>
              </a:custGeom>
              <a:solidFill>
                <a:srgbClr val="ECFDF5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20" name="object 20"/>
              <p:cNvSpPr/>
              <p:nvPr/>
            </p:nvSpPr>
            <p:spPr>
              <a:xfrm>
                <a:off x="7929560" y="1719262"/>
                <a:ext cx="3102518" cy="1329688"/>
              </a:xfrm>
              <a:custGeom>
                <a:avLst/>
                <a:gdLst/>
                <a:ahLst/>
                <a:cxnLst/>
                <a:rect l="l" t="t" r="r" b="b"/>
                <a:pathLst>
                  <a:path w="3648075" h="1247775">
                    <a:moveTo>
                      <a:pt x="0" y="1176337"/>
                    </a:moveTo>
                    <a:lnTo>
                      <a:pt x="0" y="71437"/>
                    </a:lnTo>
                    <a:lnTo>
                      <a:pt x="0" y="66746"/>
                    </a:lnTo>
                    <a:lnTo>
                      <a:pt x="457" y="62101"/>
                    </a:lnTo>
                    <a:lnTo>
                      <a:pt x="1372" y="57500"/>
                    </a:lnTo>
                    <a:lnTo>
                      <a:pt x="2287" y="52899"/>
                    </a:lnTo>
                    <a:lnTo>
                      <a:pt x="3642" y="48432"/>
                    </a:lnTo>
                    <a:lnTo>
                      <a:pt x="5437" y="44099"/>
                    </a:lnTo>
                    <a:lnTo>
                      <a:pt x="7232" y="39765"/>
                    </a:lnTo>
                    <a:lnTo>
                      <a:pt x="9433" y="35648"/>
                    </a:lnTo>
                    <a:lnTo>
                      <a:pt x="12039" y="31748"/>
                    </a:lnTo>
                    <a:lnTo>
                      <a:pt x="14645" y="27848"/>
                    </a:lnTo>
                    <a:lnTo>
                      <a:pt x="17607" y="24240"/>
                    </a:lnTo>
                    <a:lnTo>
                      <a:pt x="20923" y="20923"/>
                    </a:lnTo>
                    <a:lnTo>
                      <a:pt x="24240" y="17606"/>
                    </a:lnTo>
                    <a:lnTo>
                      <a:pt x="62100" y="457"/>
                    </a:lnTo>
                    <a:lnTo>
                      <a:pt x="66747" y="0"/>
                    </a:lnTo>
                    <a:lnTo>
                      <a:pt x="71438" y="0"/>
                    </a:lnTo>
                    <a:lnTo>
                      <a:pt x="3576637" y="0"/>
                    </a:lnTo>
                    <a:lnTo>
                      <a:pt x="3581328" y="0"/>
                    </a:lnTo>
                    <a:lnTo>
                      <a:pt x="3585973" y="457"/>
                    </a:lnTo>
                    <a:lnTo>
                      <a:pt x="3623833" y="17606"/>
                    </a:lnTo>
                    <a:lnTo>
                      <a:pt x="3642634" y="44099"/>
                    </a:lnTo>
                    <a:lnTo>
                      <a:pt x="3644430" y="48432"/>
                    </a:lnTo>
                    <a:lnTo>
                      <a:pt x="3645785" y="52899"/>
                    </a:lnTo>
                    <a:lnTo>
                      <a:pt x="3646702" y="57500"/>
                    </a:lnTo>
                    <a:lnTo>
                      <a:pt x="3647617" y="62101"/>
                    </a:lnTo>
                    <a:lnTo>
                      <a:pt x="3648075" y="66746"/>
                    </a:lnTo>
                    <a:lnTo>
                      <a:pt x="3648075" y="71437"/>
                    </a:lnTo>
                    <a:lnTo>
                      <a:pt x="3648075" y="1176337"/>
                    </a:lnTo>
                    <a:lnTo>
                      <a:pt x="3648075" y="1181028"/>
                    </a:lnTo>
                    <a:lnTo>
                      <a:pt x="3647617" y="1185673"/>
                    </a:lnTo>
                    <a:lnTo>
                      <a:pt x="3646702" y="1190274"/>
                    </a:lnTo>
                    <a:lnTo>
                      <a:pt x="3645785" y="1194874"/>
                    </a:lnTo>
                    <a:lnTo>
                      <a:pt x="3644430" y="1199341"/>
                    </a:lnTo>
                    <a:lnTo>
                      <a:pt x="3642634" y="1203675"/>
                    </a:lnTo>
                    <a:lnTo>
                      <a:pt x="3640840" y="1208008"/>
                    </a:lnTo>
                    <a:lnTo>
                      <a:pt x="3612425" y="1238341"/>
                    </a:lnTo>
                    <a:lnTo>
                      <a:pt x="3576637" y="1247774"/>
                    </a:lnTo>
                    <a:lnTo>
                      <a:pt x="71438" y="1247774"/>
                    </a:lnTo>
                    <a:lnTo>
                      <a:pt x="31748" y="1235735"/>
                    </a:lnTo>
                    <a:lnTo>
                      <a:pt x="27848" y="1233129"/>
                    </a:lnTo>
                    <a:lnTo>
                      <a:pt x="5437" y="1203675"/>
                    </a:lnTo>
                    <a:lnTo>
                      <a:pt x="3642" y="1199341"/>
                    </a:lnTo>
                    <a:lnTo>
                      <a:pt x="2287" y="1194874"/>
                    </a:lnTo>
                    <a:lnTo>
                      <a:pt x="1372" y="1190274"/>
                    </a:lnTo>
                    <a:lnTo>
                      <a:pt x="457" y="1185673"/>
                    </a:lnTo>
                    <a:lnTo>
                      <a:pt x="0" y="1181028"/>
                    </a:lnTo>
                    <a:lnTo>
                      <a:pt x="0" y="1176337"/>
                    </a:lnTo>
                    <a:close/>
                  </a:path>
                </a:pathLst>
              </a:custGeom>
              <a:ln w="9524">
                <a:solidFill>
                  <a:srgbClr val="DFDFD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grpSp>
          <p:nvGrpSpPr>
            <p:cNvPr id="48" name="object 48"/>
            <p:cNvGrpSpPr/>
            <p:nvPr/>
          </p:nvGrpSpPr>
          <p:grpSpPr>
            <a:xfrm>
              <a:off x="7093" y="5948"/>
              <a:ext cx="4290" cy="900"/>
              <a:chOff x="8048624" y="2066924"/>
              <a:chExt cx="2724150" cy="571500"/>
            </a:xfrm>
          </p:grpSpPr>
          <p:sp>
            <p:nvSpPr>
              <p:cNvPr id="49" name="object 49"/>
              <p:cNvSpPr/>
              <p:nvPr/>
            </p:nvSpPr>
            <p:spPr>
              <a:xfrm>
                <a:off x="8048624" y="2066924"/>
                <a:ext cx="27241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724150" h="571500">
                    <a:moveTo>
                      <a:pt x="2617355" y="571499"/>
                    </a:moveTo>
                    <a:lnTo>
                      <a:pt x="106794" y="571499"/>
                    </a:lnTo>
                    <a:lnTo>
                      <a:pt x="99361" y="570767"/>
                    </a:lnTo>
                    <a:lnTo>
                      <a:pt x="57037" y="556406"/>
                    </a:lnTo>
                    <a:lnTo>
                      <a:pt x="23431" y="526941"/>
                    </a:lnTo>
                    <a:lnTo>
                      <a:pt x="3660" y="486859"/>
                    </a:lnTo>
                    <a:lnTo>
                      <a:pt x="0" y="464704"/>
                    </a:lnTo>
                    <a:lnTo>
                      <a:pt x="0" y="457199"/>
                    </a:lnTo>
                    <a:lnTo>
                      <a:pt x="0" y="0"/>
                    </a:lnTo>
                    <a:lnTo>
                      <a:pt x="2617355" y="0"/>
                    </a:lnTo>
                    <a:lnTo>
                      <a:pt x="2624787" y="732"/>
                    </a:lnTo>
                    <a:lnTo>
                      <a:pt x="2667109" y="15093"/>
                    </a:lnTo>
                    <a:lnTo>
                      <a:pt x="2700716" y="44557"/>
                    </a:lnTo>
                    <a:lnTo>
                      <a:pt x="2720488" y="84640"/>
                    </a:lnTo>
                    <a:lnTo>
                      <a:pt x="2724148" y="106794"/>
                    </a:lnTo>
                    <a:lnTo>
                      <a:pt x="2724148" y="464704"/>
                    </a:lnTo>
                    <a:lnTo>
                      <a:pt x="2712576" y="507874"/>
                    </a:lnTo>
                    <a:lnTo>
                      <a:pt x="2685363" y="543329"/>
                    </a:lnTo>
                    <a:lnTo>
                      <a:pt x="2646654" y="565671"/>
                    </a:lnTo>
                    <a:lnTo>
                      <a:pt x="2624787" y="570767"/>
                    </a:lnTo>
                    <a:lnTo>
                      <a:pt x="2617355" y="571499"/>
                    </a:lnTo>
                    <a:close/>
                  </a:path>
                </a:pathLst>
              </a:custGeom>
              <a:solidFill>
                <a:srgbClr val="E7F1FF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50" name="object 50"/>
              <p:cNvSpPr/>
              <p:nvPr/>
            </p:nvSpPr>
            <p:spPr>
              <a:xfrm>
                <a:off x="8167686" y="2347912"/>
                <a:ext cx="1524000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219075">
                    <a:moveTo>
                      <a:pt x="0" y="185737"/>
                    </a:moveTo>
                    <a:lnTo>
                      <a:pt x="0" y="33337"/>
                    </a:lnTo>
                    <a:lnTo>
                      <a:pt x="0" y="28916"/>
                    </a:lnTo>
                    <a:lnTo>
                      <a:pt x="845" y="24663"/>
                    </a:lnTo>
                    <a:lnTo>
                      <a:pt x="2536" y="20579"/>
                    </a:lnTo>
                    <a:lnTo>
                      <a:pt x="4228" y="16495"/>
                    </a:lnTo>
                    <a:lnTo>
                      <a:pt x="6637" y="12890"/>
                    </a:lnTo>
                    <a:lnTo>
                      <a:pt x="9763" y="9764"/>
                    </a:lnTo>
                    <a:lnTo>
                      <a:pt x="12889" y="6638"/>
                    </a:lnTo>
                    <a:lnTo>
                      <a:pt x="16494" y="4229"/>
                    </a:lnTo>
                    <a:lnTo>
                      <a:pt x="20578" y="2537"/>
                    </a:lnTo>
                    <a:lnTo>
                      <a:pt x="24663" y="845"/>
                    </a:lnTo>
                    <a:lnTo>
                      <a:pt x="28916" y="0"/>
                    </a:lnTo>
                    <a:lnTo>
                      <a:pt x="33338" y="0"/>
                    </a:lnTo>
                    <a:lnTo>
                      <a:pt x="357188" y="0"/>
                    </a:lnTo>
                    <a:lnTo>
                      <a:pt x="361608" y="0"/>
                    </a:lnTo>
                    <a:lnTo>
                      <a:pt x="365860" y="845"/>
                    </a:lnTo>
                    <a:lnTo>
                      <a:pt x="369944" y="2537"/>
                    </a:lnTo>
                    <a:lnTo>
                      <a:pt x="374028" y="4229"/>
                    </a:lnTo>
                    <a:lnTo>
                      <a:pt x="387986" y="20579"/>
                    </a:lnTo>
                    <a:lnTo>
                      <a:pt x="389678" y="24663"/>
                    </a:lnTo>
                    <a:lnTo>
                      <a:pt x="390524" y="28916"/>
                    </a:lnTo>
                    <a:lnTo>
                      <a:pt x="390525" y="33337"/>
                    </a:lnTo>
                    <a:lnTo>
                      <a:pt x="390525" y="185737"/>
                    </a:lnTo>
                    <a:lnTo>
                      <a:pt x="369944" y="216537"/>
                    </a:lnTo>
                    <a:lnTo>
                      <a:pt x="365860" y="218228"/>
                    </a:lnTo>
                    <a:lnTo>
                      <a:pt x="361608" y="219074"/>
                    </a:lnTo>
                    <a:lnTo>
                      <a:pt x="357188" y="219074"/>
                    </a:lnTo>
                    <a:lnTo>
                      <a:pt x="33338" y="219074"/>
                    </a:lnTo>
                    <a:lnTo>
                      <a:pt x="9763" y="209310"/>
                    </a:lnTo>
                    <a:lnTo>
                      <a:pt x="6637" y="206184"/>
                    </a:lnTo>
                    <a:lnTo>
                      <a:pt x="4228" y="202579"/>
                    </a:lnTo>
                    <a:lnTo>
                      <a:pt x="2537" y="198495"/>
                    </a:lnTo>
                    <a:lnTo>
                      <a:pt x="845" y="194410"/>
                    </a:lnTo>
                    <a:lnTo>
                      <a:pt x="0" y="190158"/>
                    </a:lnTo>
                    <a:lnTo>
                      <a:pt x="0" y="185737"/>
                    </a:lnTo>
                    <a:close/>
                  </a:path>
                  <a:path w="1524000" h="219075">
                    <a:moveTo>
                      <a:pt x="476250" y="185737"/>
                    </a:moveTo>
                    <a:lnTo>
                      <a:pt x="476250" y="33337"/>
                    </a:lnTo>
                    <a:lnTo>
                      <a:pt x="476249" y="28916"/>
                    </a:lnTo>
                    <a:lnTo>
                      <a:pt x="477095" y="24663"/>
                    </a:lnTo>
                    <a:lnTo>
                      <a:pt x="478787" y="20579"/>
                    </a:lnTo>
                    <a:lnTo>
                      <a:pt x="480479" y="16495"/>
                    </a:lnTo>
                    <a:lnTo>
                      <a:pt x="482888" y="12890"/>
                    </a:lnTo>
                    <a:lnTo>
                      <a:pt x="486014" y="9764"/>
                    </a:lnTo>
                    <a:lnTo>
                      <a:pt x="489140" y="6638"/>
                    </a:lnTo>
                    <a:lnTo>
                      <a:pt x="492745" y="4229"/>
                    </a:lnTo>
                    <a:lnTo>
                      <a:pt x="496829" y="2537"/>
                    </a:lnTo>
                    <a:lnTo>
                      <a:pt x="500914" y="845"/>
                    </a:lnTo>
                    <a:lnTo>
                      <a:pt x="505166" y="0"/>
                    </a:lnTo>
                    <a:lnTo>
                      <a:pt x="509588" y="0"/>
                    </a:lnTo>
                    <a:lnTo>
                      <a:pt x="1052512" y="0"/>
                    </a:lnTo>
                    <a:lnTo>
                      <a:pt x="1056933" y="0"/>
                    </a:lnTo>
                    <a:lnTo>
                      <a:pt x="1061185" y="845"/>
                    </a:lnTo>
                    <a:lnTo>
                      <a:pt x="1065269" y="2537"/>
                    </a:lnTo>
                    <a:lnTo>
                      <a:pt x="1069353" y="4229"/>
                    </a:lnTo>
                    <a:lnTo>
                      <a:pt x="1085850" y="33337"/>
                    </a:lnTo>
                    <a:lnTo>
                      <a:pt x="1085850" y="185737"/>
                    </a:lnTo>
                    <a:lnTo>
                      <a:pt x="1065269" y="216537"/>
                    </a:lnTo>
                    <a:lnTo>
                      <a:pt x="1061185" y="218228"/>
                    </a:lnTo>
                    <a:lnTo>
                      <a:pt x="1056933" y="219074"/>
                    </a:lnTo>
                    <a:lnTo>
                      <a:pt x="1052512" y="219074"/>
                    </a:lnTo>
                    <a:lnTo>
                      <a:pt x="509588" y="219074"/>
                    </a:lnTo>
                    <a:lnTo>
                      <a:pt x="505166" y="219074"/>
                    </a:lnTo>
                    <a:lnTo>
                      <a:pt x="500914" y="218228"/>
                    </a:lnTo>
                    <a:lnTo>
                      <a:pt x="496830" y="216537"/>
                    </a:lnTo>
                    <a:lnTo>
                      <a:pt x="492745" y="214845"/>
                    </a:lnTo>
                    <a:lnTo>
                      <a:pt x="489140" y="212436"/>
                    </a:lnTo>
                    <a:lnTo>
                      <a:pt x="486014" y="209310"/>
                    </a:lnTo>
                    <a:lnTo>
                      <a:pt x="482888" y="206184"/>
                    </a:lnTo>
                    <a:lnTo>
                      <a:pt x="480479" y="202579"/>
                    </a:lnTo>
                    <a:lnTo>
                      <a:pt x="478787" y="198495"/>
                    </a:lnTo>
                    <a:lnTo>
                      <a:pt x="477095" y="194410"/>
                    </a:lnTo>
                    <a:lnTo>
                      <a:pt x="476249" y="190158"/>
                    </a:lnTo>
                    <a:lnTo>
                      <a:pt x="476250" y="185737"/>
                    </a:lnTo>
                    <a:close/>
                  </a:path>
                  <a:path w="1524000" h="219075">
                    <a:moveTo>
                      <a:pt x="1171575" y="185737"/>
                    </a:moveTo>
                    <a:lnTo>
                      <a:pt x="1171575" y="33337"/>
                    </a:lnTo>
                    <a:lnTo>
                      <a:pt x="1171574" y="28916"/>
                    </a:lnTo>
                    <a:lnTo>
                      <a:pt x="1172420" y="24663"/>
                    </a:lnTo>
                    <a:lnTo>
                      <a:pt x="1174111" y="20579"/>
                    </a:lnTo>
                    <a:lnTo>
                      <a:pt x="1175803" y="16495"/>
                    </a:lnTo>
                    <a:lnTo>
                      <a:pt x="1178212" y="12890"/>
                    </a:lnTo>
                    <a:lnTo>
                      <a:pt x="1181338" y="9764"/>
                    </a:lnTo>
                    <a:lnTo>
                      <a:pt x="1184464" y="6638"/>
                    </a:lnTo>
                    <a:lnTo>
                      <a:pt x="1188069" y="4229"/>
                    </a:lnTo>
                    <a:lnTo>
                      <a:pt x="1192153" y="2537"/>
                    </a:lnTo>
                    <a:lnTo>
                      <a:pt x="1196238" y="845"/>
                    </a:lnTo>
                    <a:lnTo>
                      <a:pt x="1200491" y="0"/>
                    </a:lnTo>
                    <a:lnTo>
                      <a:pt x="1204912" y="0"/>
                    </a:lnTo>
                    <a:lnTo>
                      <a:pt x="1490662" y="0"/>
                    </a:lnTo>
                    <a:lnTo>
                      <a:pt x="1495083" y="0"/>
                    </a:lnTo>
                    <a:lnTo>
                      <a:pt x="1499336" y="845"/>
                    </a:lnTo>
                    <a:lnTo>
                      <a:pt x="1503420" y="2537"/>
                    </a:lnTo>
                    <a:lnTo>
                      <a:pt x="1507504" y="4229"/>
                    </a:lnTo>
                    <a:lnTo>
                      <a:pt x="1524000" y="33337"/>
                    </a:lnTo>
                    <a:lnTo>
                      <a:pt x="1524000" y="185737"/>
                    </a:lnTo>
                    <a:lnTo>
                      <a:pt x="1503419" y="216537"/>
                    </a:lnTo>
                    <a:lnTo>
                      <a:pt x="1499335" y="218228"/>
                    </a:lnTo>
                    <a:lnTo>
                      <a:pt x="1495083" y="219074"/>
                    </a:lnTo>
                    <a:lnTo>
                      <a:pt x="1490662" y="219074"/>
                    </a:lnTo>
                    <a:lnTo>
                      <a:pt x="1204912" y="219074"/>
                    </a:lnTo>
                    <a:lnTo>
                      <a:pt x="1181338" y="209310"/>
                    </a:lnTo>
                    <a:lnTo>
                      <a:pt x="1178212" y="206184"/>
                    </a:lnTo>
                    <a:lnTo>
                      <a:pt x="1175803" y="202579"/>
                    </a:lnTo>
                    <a:lnTo>
                      <a:pt x="1174111" y="198495"/>
                    </a:lnTo>
                    <a:lnTo>
                      <a:pt x="1172420" y="194410"/>
                    </a:lnTo>
                    <a:lnTo>
                      <a:pt x="1171574" y="190158"/>
                    </a:lnTo>
                    <a:lnTo>
                      <a:pt x="1171575" y="185737"/>
                    </a:lnTo>
                    <a:close/>
                  </a:path>
                </a:pathLst>
              </a:custGeom>
              <a:ln w="9524">
                <a:solidFill>
                  <a:srgbClr val="3364FF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59" name="Text Box 58"/>
            <p:cNvSpPr txBox="1"/>
            <p:nvPr/>
          </p:nvSpPr>
          <p:spPr>
            <a:xfrm>
              <a:off x="7093" y="5962"/>
              <a:ext cx="3679" cy="36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Did</a:t>
              </a:r>
              <a:r>
                <a:rPr sz="900" spc="-3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Trip.com</a:t>
              </a:r>
              <a:r>
                <a:rPr sz="90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Chatbot</a:t>
              </a:r>
              <a:r>
                <a:rPr sz="900" spc="-5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solve</a:t>
              </a:r>
              <a:r>
                <a:rPr sz="90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</a:t>
              </a:r>
              <a:r>
                <a:rPr sz="9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your</a:t>
              </a:r>
              <a:r>
                <a:rPr sz="900" spc="-1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problem?</a:t>
              </a:r>
              <a:endParaRPr lang="en-US" altLang="zh-CN" sz="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63" name="Text Box 62"/>
            <p:cNvSpPr txBox="1"/>
            <p:nvPr userDrawn="1"/>
          </p:nvSpPr>
          <p:spPr>
            <a:xfrm>
              <a:off x="7280" y="6378"/>
              <a:ext cx="662" cy="35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en-US" altLang="zh-CN" sz="1000">
                  <a:solidFill>
                    <a:srgbClr val="3364FF"/>
                  </a:solidFill>
                </a:rPr>
                <a:t>Yes</a:t>
              </a:r>
              <a:endParaRPr lang="zh-CN" altLang="en-US" sz="1000">
                <a:solidFill>
                  <a:srgbClr val="3364FF"/>
                </a:solidFill>
              </a:endParaRPr>
            </a:p>
          </p:txBody>
        </p:sp>
        <p:sp>
          <p:nvSpPr>
            <p:cNvPr id="64" name="Text Box 63"/>
            <p:cNvSpPr txBox="1"/>
            <p:nvPr userDrawn="1"/>
          </p:nvSpPr>
          <p:spPr>
            <a:xfrm>
              <a:off x="7995" y="6378"/>
              <a:ext cx="1095" cy="35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 sz="1000">
                  <a:solidFill>
                    <a:srgbClr val="3364FF"/>
                  </a:solidFill>
                </a:rPr>
                <a:t>P</a:t>
              </a:r>
              <a:r>
                <a:rPr lang="en-US" altLang="zh-CN" sz="1000">
                  <a:solidFill>
                    <a:srgbClr val="3364FF"/>
                  </a:solidFill>
                </a:rPr>
                <a:t>artially</a:t>
              </a:r>
              <a:endParaRPr lang="zh-CN" altLang="en-US"/>
            </a:p>
          </p:txBody>
        </p:sp>
        <p:sp>
          <p:nvSpPr>
            <p:cNvPr id="65" name="Text Box 64"/>
            <p:cNvSpPr txBox="1"/>
            <p:nvPr userDrawn="1"/>
          </p:nvSpPr>
          <p:spPr>
            <a:xfrm>
              <a:off x="9089" y="6378"/>
              <a:ext cx="637" cy="354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pPr algn="ctr"/>
              <a:r>
                <a:rPr lang="zh-CN" altLang="en-US" sz="1000">
                  <a:solidFill>
                    <a:srgbClr val="3364FF"/>
                  </a:solidFill>
                </a:rPr>
                <a:t>N</a:t>
              </a:r>
              <a:r>
                <a:rPr lang="en-US" altLang="zh-CN" sz="1000">
                  <a:solidFill>
                    <a:srgbClr val="3364FF"/>
                  </a:solidFill>
                  <a:cs typeface="Arial" panose="020B0604020202020204" pitchFamily="34" charset="0"/>
                </a:rPr>
                <a:t>o</a:t>
              </a:r>
              <a:endParaRPr lang="zh-CN" altLang="en-US"/>
            </a:p>
          </p:txBody>
        </p:sp>
      </p:grpSp>
      <p:sp>
        <p:nvSpPr>
          <p:cNvPr id="67" name="Text Box 66"/>
          <p:cNvSpPr txBox="1"/>
          <p:nvPr/>
        </p:nvSpPr>
        <p:spPr>
          <a:xfrm>
            <a:off x="8029706" y="2101419"/>
            <a:ext cx="3456302" cy="98469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000" b="1">
                <a:latin typeface="Arial" panose="020B0604020202020204" pitchFamily="34" charset="0"/>
              </a:rPr>
              <a:t>Current</a:t>
            </a:r>
            <a:r>
              <a:rPr lang="en-US" altLang="zh-CN" sz="1000">
                <a:latin typeface="Arial" panose="020B0604020202020204" pitchFamily="34" charset="0"/>
              </a:rPr>
              <a:t>:</a:t>
            </a:r>
            <a:endParaRPr lang="en-US" altLang="zh-CN" sz="1000">
              <a:latin typeface="Arial" panose="020B0604020202020204" pitchFamily="34" charset="0"/>
            </a:endParaRPr>
          </a:p>
          <a:p>
            <a:r>
              <a:rPr lang="en-US" altLang="zh-CN" sz="900">
                <a:latin typeface="Arial" panose="020B0604020202020204" pitchFamily="34" charset="0"/>
              </a:rPr>
              <a:t>Persistent survey icon which</a:t>
            </a:r>
            <a:r>
              <a:rPr lang="en-US" altLang="zh-CN" sz="900">
                <a:solidFill>
                  <a:srgbClr val="C00000"/>
                </a:solidFill>
                <a:latin typeface="Arial" panose="020B0604020202020204" pitchFamily="34" charset="0"/>
              </a:rPr>
              <a:t> replies on users to discover it</a:t>
            </a:r>
            <a:endParaRPr lang="en-US" altLang="zh-CN" sz="90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endParaRPr lang="en-US" altLang="zh-CN" sz="300">
              <a:solidFill>
                <a:srgbClr val="C00000"/>
              </a:solidFill>
            </a:endParaRPr>
          </a:p>
          <a:p>
            <a:r>
              <a:rPr lang="en-US" altLang="zh-CN" sz="1000" b="1">
                <a:latin typeface="Arial" panose="020B0604020202020204" pitchFamily="34" charset="0"/>
              </a:rPr>
              <a:t>Proposed</a:t>
            </a:r>
            <a:r>
              <a:rPr lang="en-US" altLang="zh-CN" sz="1000">
                <a:latin typeface="Arial" panose="020B0604020202020204" pitchFamily="34" charset="0"/>
              </a:rPr>
              <a:t>:</a:t>
            </a:r>
            <a:endParaRPr lang="en-US" altLang="zh-CN" sz="1000">
              <a:latin typeface="Arial" panose="020B0604020202020204" pitchFamily="34" charset="0"/>
            </a:endParaRPr>
          </a:p>
          <a:p>
            <a:r>
              <a:rPr lang="en-US" altLang="zh-CN" sz="900" b="0">
                <a:solidFill>
                  <a:srgbClr val="3364FF"/>
                </a:solidFill>
                <a:latin typeface="Arial" panose="020B0604020202020204" pitchFamily="34" charset="0"/>
              </a:rPr>
              <a:t>Show NPS invitation</a:t>
            </a:r>
            <a:r>
              <a:rPr lang="en-US" altLang="zh-CN" sz="900">
                <a:latin typeface="Arial" panose="020B0604020202020204" pitchFamily="34" charset="0"/>
              </a:rPr>
              <a:t> after human session's CSAT</a:t>
            </a:r>
            <a:endParaRPr lang="en-US" altLang="zh-CN" sz="900">
              <a:latin typeface="Arial" panose="020B0604020202020204" pitchFamily="34" charset="0"/>
            </a:endParaRPr>
          </a:p>
          <a:p>
            <a:endParaRPr lang="en-US" altLang="zh-CN" sz="300">
              <a:latin typeface="Arial" panose="020B0604020202020204" pitchFamily="34" charset="0"/>
            </a:endParaRPr>
          </a:p>
          <a:p>
            <a:r>
              <a:rPr lang="en-US" altLang="zh-CN" sz="1000" b="1">
                <a:latin typeface="Arial" panose="020B0604020202020204" pitchFamily="34" charset="0"/>
              </a:rPr>
              <a:t>Benefit</a:t>
            </a:r>
            <a:r>
              <a:rPr lang="en-US" altLang="zh-CN" sz="1000">
                <a:latin typeface="Arial" panose="020B0604020202020204" pitchFamily="34" charset="0"/>
              </a:rPr>
              <a:t>: </a:t>
            </a:r>
            <a:endParaRPr lang="en-US" altLang="zh-CN" sz="1000">
              <a:latin typeface="Arial" panose="020B0604020202020204" pitchFamily="34" charset="0"/>
            </a:endParaRPr>
          </a:p>
          <a:p>
            <a:r>
              <a:rPr lang="en-US" altLang="zh-CN" sz="900">
                <a:latin typeface="Arial" panose="020B0604020202020204" pitchFamily="34" charset="0"/>
              </a:rPr>
              <a:t>Clarify purpose, increase NPS visibility and boost user participation</a:t>
            </a:r>
            <a:endParaRPr lang="en-US" altLang="zh-CN" sz="900">
              <a:latin typeface="Arial" panose="020B0604020202020204" pitchFamily="34" charset="0"/>
            </a:endParaRPr>
          </a:p>
          <a:p>
            <a:endParaRPr lang="en-US" altLang="zh-CN" sz="900"/>
          </a:p>
        </p:txBody>
      </p:sp>
      <p:grpSp>
        <p:nvGrpSpPr>
          <p:cNvPr id="74" name="Group 73"/>
          <p:cNvGrpSpPr/>
          <p:nvPr userDrawn="1"/>
        </p:nvGrpSpPr>
        <p:grpSpPr>
          <a:xfrm>
            <a:off x="2737768" y="4300441"/>
            <a:ext cx="482600" cy="328930"/>
            <a:chOff x="3076" y="7637"/>
            <a:chExt cx="760" cy="518"/>
          </a:xfrm>
        </p:grpSpPr>
        <p:sp>
          <p:nvSpPr>
            <p:cNvPr id="72" name="Text Box 71"/>
            <p:cNvSpPr txBox="1"/>
            <p:nvPr userDrawn="1"/>
          </p:nvSpPr>
          <p:spPr>
            <a:xfrm>
              <a:off x="3076" y="7637"/>
              <a:ext cx="760" cy="519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pPr algn="ctr"/>
              <a:r>
                <a:rPr lang="zh-CN" altLang="en-US" sz="1000">
                  <a:solidFill>
                    <a:srgbClr val="3364FF"/>
                  </a:solidFill>
                </a:rPr>
                <a:t>S</a:t>
              </a:r>
              <a:r>
                <a:rPr lang="en-US" altLang="zh-CN" sz="1000">
                  <a:solidFill>
                    <a:srgbClr val="3364FF"/>
                  </a:solidFill>
                </a:rPr>
                <a:t>kip</a:t>
              </a:r>
              <a:endParaRPr lang="zh-CN" altLang="en-US"/>
            </a:p>
          </p:txBody>
        </p:sp>
        <p:sp>
          <p:nvSpPr>
            <p:cNvPr id="73" name="Rounded Rectangle 72"/>
            <p:cNvSpPr/>
            <p:nvPr userDrawn="1"/>
          </p:nvSpPr>
          <p:spPr>
            <a:xfrm>
              <a:off x="3105" y="7676"/>
              <a:ext cx="731" cy="341"/>
            </a:xfrm>
            <a:prstGeom prst="roundRect">
              <a:avLst/>
            </a:prstGeom>
            <a:noFill/>
            <a:ln w="12700" cap="flat" cmpd="sng" algn="ctr">
              <a:solidFill>
                <a:srgbClr val="3364FF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3364FF"/>
                </a:solidFill>
              </a:endParaRPr>
            </a:p>
          </p:txBody>
        </p:sp>
      </p:grpSp>
      <p:sp>
        <p:nvSpPr>
          <p:cNvPr id="75" name="Text Box 74"/>
          <p:cNvSpPr txBox="1"/>
          <p:nvPr/>
        </p:nvSpPr>
        <p:spPr>
          <a:xfrm>
            <a:off x="596920" y="4920105"/>
            <a:ext cx="3303436" cy="300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35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Expected Outcomes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8068" y="251670"/>
            <a:ext cx="9445124" cy="75120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Trip.com</a:t>
            </a:r>
            <a:r>
              <a:rPr sz="2400" spc="-30" dirty="0"/>
              <a:t> </a:t>
            </a:r>
            <a:r>
              <a:rPr sz="2400" dirty="0"/>
              <a:t>Feedback</a:t>
            </a:r>
            <a:r>
              <a:rPr sz="2400" spc="-30" dirty="0"/>
              <a:t> </a:t>
            </a:r>
            <a:r>
              <a:rPr sz="2400" dirty="0">
                <a:solidFill>
                  <a:srgbClr val="1F2937"/>
                </a:solidFill>
              </a:rPr>
              <a:t>I</a:t>
            </a:r>
            <a:r>
              <a:rPr lang="en-US" altLang="zh-CN" sz="2400" dirty="0">
                <a:solidFill>
                  <a:srgbClr val="1F2937"/>
                </a:solidFill>
              </a:rPr>
              <a:t>nvitation Design</a:t>
            </a:r>
            <a:endParaRPr lang="en-US" altLang="zh-CN" sz="2400" dirty="0">
              <a:solidFill>
                <a:srgbClr val="1F2937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18028" y="724694"/>
            <a:ext cx="3623457" cy="278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 Feedback Invitation Procedure(Optimized)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728583" y="724666"/>
            <a:ext cx="1271739" cy="278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Prototypes</a:t>
            </a:r>
            <a:endParaRPr lang="en-US" altLang="zh-CN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9" name="矩形 26"/>
          <p:cNvSpPr/>
          <p:nvPr userDrawn="1"/>
        </p:nvSpPr>
        <p:spPr>
          <a:xfrm>
            <a:off x="418028" y="1098113"/>
            <a:ext cx="3947672" cy="5631167"/>
          </a:xfrm>
          <a:prstGeom prst="rect">
            <a:avLst/>
          </a:prstGeom>
          <a:solidFill>
            <a:srgbClr val="FFFAEB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0" name="Rectangles 79"/>
          <p:cNvSpPr/>
          <p:nvPr userDrawn="1"/>
        </p:nvSpPr>
        <p:spPr>
          <a:xfrm>
            <a:off x="418089" y="1098087"/>
            <a:ext cx="3947636" cy="188658"/>
          </a:xfrm>
          <a:prstGeom prst="rect">
            <a:avLst/>
          </a:prstGeom>
          <a:solidFill>
            <a:srgbClr val="FFC00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1200" b="1">
                <a:solidFill>
                  <a:schemeClr val="bg1"/>
                </a:solidFill>
              </a:rPr>
              <a:t>AI Chat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81" name="object 18"/>
          <p:cNvSpPr/>
          <p:nvPr/>
        </p:nvSpPr>
        <p:spPr>
          <a:xfrm>
            <a:off x="1781492" y="1390700"/>
            <a:ext cx="966683" cy="205055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900" b="1"/>
              <a:t>Enter AI chat</a:t>
            </a:r>
            <a:endParaRPr lang="en-US" altLang="zh-CN" sz="900" b="1"/>
          </a:p>
        </p:txBody>
      </p:sp>
      <p:sp>
        <p:nvSpPr>
          <p:cNvPr id="82" name="object 18"/>
          <p:cNvSpPr/>
          <p:nvPr/>
        </p:nvSpPr>
        <p:spPr>
          <a:xfrm>
            <a:off x="649076" y="2418130"/>
            <a:ext cx="1644016" cy="205055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rgbClr val="FFC000">
              <a:alpha val="100000"/>
            </a:srgb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900" b="1">
                <a:solidFill>
                  <a:schemeClr val="bg1"/>
                </a:solidFill>
              </a:rPr>
              <a:t>After AI chat ends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83" name="object 18"/>
          <p:cNvSpPr/>
          <p:nvPr/>
        </p:nvSpPr>
        <p:spPr>
          <a:xfrm>
            <a:off x="2374159" y="2418080"/>
            <a:ext cx="1809538" cy="205105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rgbClr val="4BACC6">
              <a:alpha val="100000"/>
            </a:srgb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900" b="1">
                <a:solidFill>
                  <a:schemeClr val="bg1"/>
                </a:solidFill>
              </a:rPr>
              <a:t>Transfer to Human Agent</a:t>
            </a:r>
            <a:endParaRPr lang="en-US" altLang="zh-CN" sz="900" b="1">
              <a:solidFill>
                <a:schemeClr val="bg1"/>
              </a:solidFill>
            </a:endParaRPr>
          </a:p>
        </p:txBody>
      </p:sp>
      <p:sp>
        <p:nvSpPr>
          <p:cNvPr id="90" name="object 18"/>
          <p:cNvSpPr/>
          <p:nvPr/>
        </p:nvSpPr>
        <p:spPr>
          <a:xfrm>
            <a:off x="649076" y="1701588"/>
            <a:ext cx="3534581" cy="610658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algn="tl" rotWithShape="0">
              <a:srgbClr val="000000">
                <a:alpha val="13000"/>
              </a:srgbClr>
            </a:outerShdw>
          </a:effectLst>
        </p:spPr>
        <p:txBody>
          <a:bodyPr wrap="square" lIns="0" tIns="0" rIns="0" bIns="0" rtlCol="0" anchor="t"/>
          <a:p>
            <a:r>
              <a:rPr lang="en-US" altLang="zh-CN" sz="900" b="1"/>
              <a:t>  Session status check</a:t>
            </a:r>
            <a:endParaRPr lang="en-US" altLang="zh-CN" sz="900" b="1"/>
          </a:p>
        </p:txBody>
      </p:sp>
      <p:sp>
        <p:nvSpPr>
          <p:cNvPr id="97" name="object 18"/>
          <p:cNvSpPr/>
          <p:nvPr/>
        </p:nvSpPr>
        <p:spPr>
          <a:xfrm>
            <a:off x="737328" y="2075603"/>
            <a:ext cx="3386679" cy="177165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6000" sy="96000" algn="tl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rtlCol="0" anchor="ctr"/>
          <a:p>
            <a:r>
              <a:rPr lang="en-US" altLang="zh-CN" sz="800" b="1"/>
              <a:t>2 Complete AI chat (valid interaction) </a:t>
            </a:r>
            <a:r>
              <a:rPr lang="en-US" altLang="en-US" sz="800" b="1"/>
              <a:t>→</a:t>
            </a:r>
            <a:r>
              <a:rPr lang="en-US" altLang="zh-CN" sz="800" b="1"/>
              <a:t> </a:t>
            </a:r>
            <a:r>
              <a:rPr lang="en-US" altLang="zh-CN" sz="800" b="1">
                <a:solidFill>
                  <a:srgbClr val="2562EB"/>
                </a:solidFill>
              </a:rPr>
              <a:t>Continue</a:t>
            </a:r>
            <a:endParaRPr lang="en-US" altLang="zh-CN"/>
          </a:p>
        </p:txBody>
      </p:sp>
      <p:sp>
        <p:nvSpPr>
          <p:cNvPr id="98" name="object 18"/>
          <p:cNvSpPr/>
          <p:nvPr/>
        </p:nvSpPr>
        <p:spPr>
          <a:xfrm>
            <a:off x="737341" y="1868209"/>
            <a:ext cx="3285009" cy="137171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6000" sy="96000" algn="tl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rtlCol="0" anchor="ctr"/>
          <a:p>
            <a:r>
              <a:rPr lang="en-US" altLang="zh-CN" sz="800" b="1"/>
              <a:t>1 No interaction (invalid session) </a:t>
            </a:r>
            <a:r>
              <a:rPr lang="en-US" altLang="en-US" sz="800" b="1"/>
              <a:t>→ </a:t>
            </a:r>
            <a:r>
              <a:rPr lang="en-US" altLang="zh-CN" sz="800" b="1">
                <a:solidFill>
                  <a:srgbClr val="C00000"/>
                </a:solidFill>
              </a:rPr>
              <a:t>End</a:t>
            </a:r>
            <a:endParaRPr lang="en-US" altLang="zh-CN" sz="800" b="1">
              <a:solidFill>
                <a:srgbClr val="C00000"/>
              </a:solidFill>
            </a:endParaRPr>
          </a:p>
        </p:txBody>
      </p:sp>
      <p:sp>
        <p:nvSpPr>
          <p:cNvPr id="99" name="object 18"/>
          <p:cNvSpPr/>
          <p:nvPr/>
        </p:nvSpPr>
        <p:spPr>
          <a:xfrm>
            <a:off x="649077" y="2729018"/>
            <a:ext cx="1644014" cy="205105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900" b="1"/>
              <a:t>(Invitation </a:t>
            </a:r>
            <a:r>
              <a:rPr lang="en-US" altLang="zh-CN" sz="900" b="1">
                <a:cs typeface="Arial" panose="020B0604020202020204" pitchFamily="34" charset="0"/>
              </a:rPr>
              <a:t>S</a:t>
            </a:r>
            <a:r>
              <a:rPr lang="en-US" altLang="zh-CN" sz="900" b="1"/>
              <a:t>cript 1)</a:t>
            </a:r>
            <a:endParaRPr lang="en-US" altLang="zh-CN"/>
          </a:p>
        </p:txBody>
      </p:sp>
      <p:sp>
        <p:nvSpPr>
          <p:cNvPr id="100" name="object 18"/>
          <p:cNvSpPr/>
          <p:nvPr/>
        </p:nvSpPr>
        <p:spPr>
          <a:xfrm>
            <a:off x="2374159" y="2729018"/>
            <a:ext cx="1809538" cy="205105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900" b="1"/>
              <a:t>(Invitation </a:t>
            </a:r>
            <a:r>
              <a:rPr lang="en-US" altLang="zh-CN" sz="900" b="1">
                <a:cs typeface="Arial" panose="020B0604020202020204" pitchFamily="34" charset="0"/>
              </a:rPr>
              <a:t>S</a:t>
            </a:r>
            <a:r>
              <a:rPr lang="en-US" altLang="zh-CN" sz="900" b="1"/>
              <a:t>cript 2)</a:t>
            </a:r>
            <a:endParaRPr lang="en-US" altLang="zh-CN"/>
          </a:p>
        </p:txBody>
      </p:sp>
      <p:sp>
        <p:nvSpPr>
          <p:cNvPr id="101" name="object 18"/>
          <p:cNvSpPr/>
          <p:nvPr/>
        </p:nvSpPr>
        <p:spPr>
          <a:xfrm>
            <a:off x="649076" y="3039907"/>
            <a:ext cx="1644015" cy="694322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900" b="1">
                <a:solidFill>
                  <a:schemeClr val="tx1"/>
                </a:solidFill>
              </a:rPr>
              <a:t>Pop-up Q: Was your </a:t>
            </a:r>
            <a:r>
              <a:rPr lang="en-US" altLang="zh-CN" sz="900" b="1">
                <a:solidFill>
                  <a:srgbClr val="3364FF"/>
                </a:solidFill>
              </a:rPr>
              <a:t>issue resolved</a:t>
            </a:r>
            <a:r>
              <a:rPr lang="en-US" altLang="zh-CN" sz="900" b="1">
                <a:solidFill>
                  <a:schemeClr val="tx1"/>
                </a:solidFill>
              </a:rPr>
              <a:t>? </a:t>
            </a:r>
            <a:endParaRPr lang="en-US" altLang="zh-CN" sz="900" b="1">
              <a:solidFill>
                <a:schemeClr val="tx1"/>
              </a:solidFill>
            </a:endParaRPr>
          </a:p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1.Yes/ Partially </a:t>
            </a:r>
            <a:r>
              <a:rPr lang="en-US" altLang="en-US" sz="800" b="1">
                <a:solidFill>
                  <a:schemeClr val="tx1"/>
                </a:solidFill>
              </a:rPr>
              <a:t>→ </a:t>
            </a:r>
            <a:r>
              <a:rPr lang="en-US" altLang="zh-CN" sz="800" b="1">
                <a:solidFill>
                  <a:schemeClr val="tx1"/>
                </a:solidFill>
              </a:rPr>
              <a:t>continue  </a:t>
            </a:r>
            <a:endParaRPr lang="en-US" altLang="zh-CN" sz="800" b="1">
              <a:solidFill>
                <a:schemeClr val="tx1"/>
              </a:solidFill>
            </a:endParaRPr>
          </a:p>
          <a:p>
            <a:pPr algn="ctr"/>
            <a:r>
              <a:rPr lang="en-US" altLang="zh-CN" sz="800" b="1">
                <a:solidFill>
                  <a:schemeClr val="tx1"/>
                </a:solidFill>
              </a:rPr>
              <a:t>2 'No' </a:t>
            </a:r>
            <a:r>
              <a:rPr lang="en-US" altLang="en-US" sz="800" b="1">
                <a:solidFill>
                  <a:schemeClr val="tx1"/>
                </a:solidFill>
              </a:rPr>
              <a:t>→ </a:t>
            </a:r>
            <a:r>
              <a:rPr lang="en-US" altLang="zh-CN" sz="800" b="1">
                <a:solidFill>
                  <a:srgbClr val="C00000"/>
                </a:solidFill>
              </a:rPr>
              <a:t>Give option to transfer to Human after survey</a:t>
            </a:r>
            <a:endParaRPr lang="en-US" altLang="en-US" sz="800" b="1">
              <a:solidFill>
                <a:srgbClr val="C00000"/>
              </a:solidFill>
            </a:endParaRPr>
          </a:p>
        </p:txBody>
      </p:sp>
      <p:sp>
        <p:nvSpPr>
          <p:cNvPr id="102" name="object 18"/>
          <p:cNvSpPr/>
          <p:nvPr/>
        </p:nvSpPr>
        <p:spPr>
          <a:xfrm>
            <a:off x="649076" y="3840062"/>
            <a:ext cx="3474932" cy="239334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900" b="1">
                <a:solidFill>
                  <a:srgbClr val="3364FF"/>
                </a:solidFill>
              </a:rPr>
              <a:t>CSAT</a:t>
            </a:r>
            <a:r>
              <a:rPr lang="en-US" altLang="zh-CN" sz="900" b="1">
                <a:solidFill>
                  <a:schemeClr val="tx1"/>
                </a:solidFill>
              </a:rPr>
              <a:t> rating</a:t>
            </a:r>
            <a:endParaRPr lang="en-US" altLang="zh-CN" sz="900" b="1">
              <a:solidFill>
                <a:schemeClr val="tx1"/>
              </a:solidFill>
            </a:endParaRPr>
          </a:p>
        </p:txBody>
      </p:sp>
      <p:sp>
        <p:nvSpPr>
          <p:cNvPr id="103" name="object 18"/>
          <p:cNvSpPr/>
          <p:nvPr/>
        </p:nvSpPr>
        <p:spPr>
          <a:xfrm>
            <a:off x="649076" y="4185229"/>
            <a:ext cx="3474932" cy="236805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900" b="1">
                <a:solidFill>
                  <a:schemeClr val="tx1"/>
                </a:solidFill>
              </a:rPr>
              <a:t>Selects</a:t>
            </a:r>
            <a:r>
              <a:rPr lang="en-US" altLang="zh-CN" sz="900" b="1">
                <a:solidFill>
                  <a:srgbClr val="3364FF"/>
                </a:solidFill>
                <a:cs typeface="Arial" panose="020B0604020202020204" pitchFamily="34" charset="0"/>
              </a:rPr>
              <a:t> reason</a:t>
            </a:r>
            <a:r>
              <a:rPr lang="en-US" altLang="zh-CN" sz="900" b="1">
                <a:solidFill>
                  <a:schemeClr val="tx1"/>
                </a:solidFill>
              </a:rPr>
              <a:t> of CSAT rating</a:t>
            </a:r>
            <a:endParaRPr lang="en-US" altLang="zh-CN" sz="900" b="1">
              <a:solidFill>
                <a:schemeClr val="tx1"/>
              </a:solidFill>
            </a:endParaRPr>
          </a:p>
        </p:txBody>
      </p:sp>
      <p:sp>
        <p:nvSpPr>
          <p:cNvPr id="104" name="object 18"/>
          <p:cNvSpPr/>
          <p:nvPr/>
        </p:nvSpPr>
        <p:spPr>
          <a:xfrm>
            <a:off x="649076" y="4527867"/>
            <a:ext cx="1644015" cy="214101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800" b="1"/>
              <a:t>Select </a:t>
            </a:r>
            <a:r>
              <a:rPr lang="en-US" altLang="zh-CN" sz="800" b="1">
                <a:solidFill>
                  <a:srgbClr val="1C4ED8"/>
                </a:solidFill>
              </a:rPr>
              <a:t>'Others</a:t>
            </a:r>
            <a:r>
              <a:rPr lang="en-US" altLang="zh-CN" sz="800" b="1"/>
              <a:t>' </a:t>
            </a:r>
            <a:endParaRPr lang="en-US" altLang="zh-CN" sz="800" b="1"/>
          </a:p>
        </p:txBody>
      </p:sp>
      <p:sp>
        <p:nvSpPr>
          <p:cNvPr id="105" name="object 18"/>
          <p:cNvSpPr/>
          <p:nvPr/>
        </p:nvSpPr>
        <p:spPr>
          <a:xfrm>
            <a:off x="649076" y="4879540"/>
            <a:ext cx="1644015" cy="235609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800" b="1"/>
              <a:t>Comments (optional)</a:t>
            </a:r>
            <a:endParaRPr lang="en-US" altLang="zh-CN" sz="800" b="1"/>
          </a:p>
        </p:txBody>
      </p:sp>
      <p:sp>
        <p:nvSpPr>
          <p:cNvPr id="106" name="object 18"/>
          <p:cNvSpPr/>
          <p:nvPr/>
        </p:nvSpPr>
        <p:spPr>
          <a:xfrm>
            <a:off x="2374159" y="4527868"/>
            <a:ext cx="1749848" cy="214101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800" b="1"/>
              <a:t>Select other options</a:t>
            </a:r>
            <a:endParaRPr lang="en-US" altLang="zh-CN" sz="800" b="1"/>
          </a:p>
        </p:txBody>
      </p:sp>
      <p:sp>
        <p:nvSpPr>
          <p:cNvPr id="107" name="object 18"/>
          <p:cNvSpPr/>
          <p:nvPr/>
        </p:nvSpPr>
        <p:spPr>
          <a:xfrm>
            <a:off x="649090" y="5252732"/>
            <a:ext cx="3534607" cy="171756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800" b="1"/>
              <a:t>(</a:t>
            </a:r>
            <a:r>
              <a:rPr lang="en-US" altLang="zh-CN" sz="800" b="1">
                <a:cs typeface="Arial" panose="020B0604020202020204" pitchFamily="34" charset="0"/>
              </a:rPr>
              <a:t> Ending </a:t>
            </a:r>
            <a:r>
              <a:rPr lang="en-US" altLang="zh-CN" sz="800" b="1"/>
              <a:t>Script)</a:t>
            </a:r>
            <a:endParaRPr lang="en-US" altLang="zh-CN"/>
          </a:p>
        </p:txBody>
      </p:sp>
      <p:sp>
        <p:nvSpPr>
          <p:cNvPr id="108" name="object 18"/>
          <p:cNvSpPr/>
          <p:nvPr/>
        </p:nvSpPr>
        <p:spPr>
          <a:xfrm>
            <a:off x="649076" y="5850243"/>
            <a:ext cx="1644015" cy="229296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800" b="1">
                <a:sym typeface="+mn-ea"/>
              </a:rPr>
              <a:t>Return to main interface</a:t>
            </a:r>
            <a:endParaRPr lang="en-US" altLang="zh-CN" sz="800" b="1">
              <a:sym typeface="+mn-ea"/>
            </a:endParaRPr>
          </a:p>
        </p:txBody>
      </p:sp>
      <p:sp>
        <p:nvSpPr>
          <p:cNvPr id="109" name="object 18"/>
          <p:cNvSpPr/>
          <p:nvPr/>
        </p:nvSpPr>
        <p:spPr>
          <a:xfrm>
            <a:off x="619214" y="6495093"/>
            <a:ext cx="3534622" cy="192922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800" b="1">
                <a:solidFill>
                  <a:schemeClr val="bg1"/>
                </a:solidFill>
                <a:sym typeface="+mn-ea"/>
              </a:rPr>
              <a:t>END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110" name="object 18"/>
          <p:cNvSpPr/>
          <p:nvPr/>
        </p:nvSpPr>
        <p:spPr>
          <a:xfrm>
            <a:off x="649076" y="5530321"/>
            <a:ext cx="1644001" cy="214089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rgbClr val="E7F1FF">
              <a:alpha val="100000"/>
            </a:srgb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800" b="1">
                <a:sym typeface="+mn-ea"/>
              </a:rPr>
              <a:t>Transfer to Human (button)</a:t>
            </a:r>
            <a:endParaRPr lang="en-US" altLang="zh-CN">
              <a:sym typeface="+mn-ea"/>
            </a:endParaRPr>
          </a:p>
        </p:txBody>
      </p:sp>
      <p:sp>
        <p:nvSpPr>
          <p:cNvPr id="111" name="object 18"/>
          <p:cNvSpPr/>
          <p:nvPr/>
        </p:nvSpPr>
        <p:spPr>
          <a:xfrm>
            <a:off x="2374159" y="5850255"/>
            <a:ext cx="1749848" cy="229235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pPr algn="ctr"/>
            <a:r>
              <a:rPr lang="en-US" altLang="zh-CN" sz="800" b="1">
                <a:sym typeface="+mn-ea"/>
              </a:rPr>
              <a:t>Enter Human chat</a:t>
            </a:r>
            <a:endParaRPr lang="en-US" altLang="zh-CN">
              <a:sym typeface="+mn-ea"/>
            </a:endParaRPr>
          </a:p>
        </p:txBody>
      </p:sp>
      <p:cxnSp>
        <p:nvCxnSpPr>
          <p:cNvPr id="112" name="Straight Arrow Connector 111"/>
          <p:cNvCxnSpPr/>
          <p:nvPr userDrawn="1"/>
        </p:nvCxnSpPr>
        <p:spPr>
          <a:xfrm>
            <a:off x="2277533" y="1658805"/>
            <a:ext cx="1" cy="52917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 userDrawn="1"/>
        </p:nvCxnSpPr>
        <p:spPr>
          <a:xfrm>
            <a:off x="1483783" y="2272639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 userDrawn="1"/>
        </p:nvCxnSpPr>
        <p:spPr>
          <a:xfrm>
            <a:off x="3278944" y="2280521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 userDrawn="1"/>
        </p:nvCxnSpPr>
        <p:spPr>
          <a:xfrm>
            <a:off x="1483775" y="2623185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 userDrawn="1"/>
        </p:nvCxnSpPr>
        <p:spPr>
          <a:xfrm>
            <a:off x="3278945" y="2623185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 userDrawn="1"/>
        </p:nvCxnSpPr>
        <p:spPr>
          <a:xfrm>
            <a:off x="1483775" y="2934140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 userDrawn="1"/>
        </p:nvCxnSpPr>
        <p:spPr>
          <a:xfrm>
            <a:off x="3278945" y="2934140"/>
            <a:ext cx="0" cy="899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 userDrawn="1"/>
        </p:nvCxnSpPr>
        <p:spPr>
          <a:xfrm>
            <a:off x="1483775" y="3726701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 userDrawn="1"/>
        </p:nvCxnSpPr>
        <p:spPr>
          <a:xfrm>
            <a:off x="2374143" y="4047629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 userDrawn="1"/>
        </p:nvCxnSpPr>
        <p:spPr>
          <a:xfrm>
            <a:off x="1483775" y="4422018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 userDrawn="1"/>
        </p:nvCxnSpPr>
        <p:spPr>
          <a:xfrm>
            <a:off x="3278945" y="4422018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 userDrawn="1"/>
        </p:nvCxnSpPr>
        <p:spPr>
          <a:xfrm>
            <a:off x="1483775" y="4741985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 userDrawn="1"/>
        </p:nvCxnSpPr>
        <p:spPr>
          <a:xfrm>
            <a:off x="3278945" y="4741985"/>
            <a:ext cx="0" cy="496602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 userDrawn="1"/>
        </p:nvCxnSpPr>
        <p:spPr>
          <a:xfrm>
            <a:off x="1483775" y="5392705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 userDrawn="1"/>
        </p:nvCxnSpPr>
        <p:spPr>
          <a:xfrm>
            <a:off x="3278945" y="5424488"/>
            <a:ext cx="0" cy="474621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 userDrawn="1"/>
        </p:nvCxnSpPr>
        <p:spPr>
          <a:xfrm>
            <a:off x="1471099" y="5744381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 userDrawn="1"/>
        </p:nvCxnSpPr>
        <p:spPr>
          <a:xfrm>
            <a:off x="1471100" y="6047805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 userDrawn="1"/>
        </p:nvCxnSpPr>
        <p:spPr>
          <a:xfrm>
            <a:off x="3278945" y="6047789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0" name="Picture 129" descr="post_object_image_2260776057"/>
          <p:cNvPicPr>
            <a:picLocks noChangeAspect="1"/>
          </p:cNvPicPr>
          <p:nvPr/>
        </p:nvPicPr>
        <p:blipFill>
          <a:blip r:embed="rId1"/>
          <a:srcRect b="32072"/>
          <a:stretch>
            <a:fillRect/>
          </a:stretch>
        </p:blipFill>
        <p:spPr>
          <a:xfrm>
            <a:off x="4612445" y="1353053"/>
            <a:ext cx="1661373" cy="2343000"/>
          </a:xfrm>
          <a:prstGeom prst="rect">
            <a:avLst/>
          </a:prstGeom>
        </p:spPr>
      </p:pic>
      <p:pic>
        <p:nvPicPr>
          <p:cNvPr id="131" name="Picture 130" descr="post_object_image_3622042462"/>
          <p:cNvPicPr>
            <a:picLocks noChangeAspect="1"/>
          </p:cNvPicPr>
          <p:nvPr/>
        </p:nvPicPr>
        <p:blipFill>
          <a:blip r:embed="rId2"/>
          <a:srcRect b="34355"/>
          <a:stretch>
            <a:fillRect/>
          </a:stretch>
        </p:blipFill>
        <p:spPr>
          <a:xfrm>
            <a:off x="6373398" y="1347356"/>
            <a:ext cx="1749927" cy="2392414"/>
          </a:xfrm>
          <a:prstGeom prst="rect">
            <a:avLst/>
          </a:prstGeom>
        </p:spPr>
      </p:pic>
      <p:pic>
        <p:nvPicPr>
          <p:cNvPr id="132" name="Picture 131" descr="post_object_image_290559394"/>
          <p:cNvPicPr>
            <a:picLocks noChangeAspect="1"/>
          </p:cNvPicPr>
          <p:nvPr/>
        </p:nvPicPr>
        <p:blipFill>
          <a:blip r:embed="rId3"/>
          <a:srcRect b="29712"/>
          <a:stretch>
            <a:fillRect/>
          </a:stretch>
        </p:blipFill>
        <p:spPr>
          <a:xfrm>
            <a:off x="4584761" y="4191238"/>
            <a:ext cx="1846613" cy="2496800"/>
          </a:xfrm>
          <a:prstGeom prst="rect">
            <a:avLst/>
          </a:prstGeom>
        </p:spPr>
      </p:pic>
      <p:pic>
        <p:nvPicPr>
          <p:cNvPr id="134" name="Picture 133" descr="post_object_image_1361545324"/>
          <p:cNvPicPr>
            <a:picLocks noChangeAspect="1"/>
          </p:cNvPicPr>
          <p:nvPr/>
        </p:nvPicPr>
        <p:blipFill>
          <a:blip r:embed="rId4"/>
          <a:srcRect b="11734"/>
          <a:stretch>
            <a:fillRect/>
          </a:stretch>
        </p:blipFill>
        <p:spPr>
          <a:xfrm>
            <a:off x="8222850" y="1343787"/>
            <a:ext cx="1415645" cy="2594202"/>
          </a:xfrm>
          <a:prstGeom prst="rect">
            <a:avLst/>
          </a:prstGeom>
        </p:spPr>
      </p:pic>
      <p:pic>
        <p:nvPicPr>
          <p:cNvPr id="135" name="Picture 134" descr="post_object_image_1237785446"/>
          <p:cNvPicPr>
            <a:picLocks noChangeAspect="1"/>
          </p:cNvPicPr>
          <p:nvPr/>
        </p:nvPicPr>
        <p:blipFill>
          <a:blip r:embed="rId5"/>
          <a:srcRect b="34089"/>
          <a:stretch>
            <a:fillRect/>
          </a:stretch>
        </p:blipFill>
        <p:spPr>
          <a:xfrm>
            <a:off x="9742563" y="1353040"/>
            <a:ext cx="1749947" cy="2394623"/>
          </a:xfrm>
          <a:prstGeom prst="rect">
            <a:avLst/>
          </a:prstGeom>
        </p:spPr>
      </p:pic>
      <p:sp>
        <p:nvSpPr>
          <p:cNvPr id="138" name="Chevron 137"/>
          <p:cNvSpPr/>
          <p:nvPr userDrawn="1"/>
        </p:nvSpPr>
        <p:spPr>
          <a:xfrm>
            <a:off x="6273818" y="2511484"/>
            <a:ext cx="99564" cy="157994"/>
          </a:xfrm>
          <a:prstGeom prst="chevron">
            <a:avLst/>
          </a:prstGeom>
          <a:solidFill>
            <a:srgbClr val="F0F0F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9" name="Chevron 138"/>
          <p:cNvSpPr/>
          <p:nvPr userDrawn="1"/>
        </p:nvSpPr>
        <p:spPr>
          <a:xfrm>
            <a:off x="8123313" y="2511484"/>
            <a:ext cx="99564" cy="157994"/>
          </a:xfrm>
          <a:prstGeom prst="chevron">
            <a:avLst/>
          </a:prstGeom>
          <a:solidFill>
            <a:srgbClr val="F0F0F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0" name="Chevron 139"/>
          <p:cNvSpPr/>
          <p:nvPr userDrawn="1"/>
        </p:nvSpPr>
        <p:spPr>
          <a:xfrm>
            <a:off x="9643011" y="2511484"/>
            <a:ext cx="99564" cy="157994"/>
          </a:xfrm>
          <a:prstGeom prst="chevron">
            <a:avLst/>
          </a:prstGeom>
          <a:solidFill>
            <a:srgbClr val="F0F0F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2" name="object 18"/>
          <p:cNvSpPr/>
          <p:nvPr/>
        </p:nvSpPr>
        <p:spPr>
          <a:xfrm>
            <a:off x="2374143" y="6171650"/>
            <a:ext cx="1749889" cy="238931"/>
          </a:xfrm>
          <a:custGeom>
            <a:avLst/>
            <a:gdLst/>
            <a:ahLst/>
            <a:cxnLst/>
            <a:rect l="l" t="t" r="r" b="b"/>
            <a:pathLst>
              <a:path w="2628900" h="647700">
                <a:moveTo>
                  <a:pt x="2575502" y="647699"/>
                </a:moveTo>
                <a:lnTo>
                  <a:pt x="53397" y="647699"/>
                </a:lnTo>
                <a:lnTo>
                  <a:pt x="49681" y="647333"/>
                </a:lnTo>
                <a:lnTo>
                  <a:pt x="14085" y="628307"/>
                </a:lnTo>
                <a:lnTo>
                  <a:pt x="0" y="594302"/>
                </a:lnTo>
                <a:lnTo>
                  <a:pt x="0" y="59054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575502" y="0"/>
                </a:lnTo>
                <a:lnTo>
                  <a:pt x="2614814" y="19391"/>
                </a:lnTo>
                <a:lnTo>
                  <a:pt x="2628899" y="53397"/>
                </a:lnTo>
                <a:lnTo>
                  <a:pt x="2628899" y="594302"/>
                </a:lnTo>
                <a:lnTo>
                  <a:pt x="2609507" y="633614"/>
                </a:lnTo>
                <a:lnTo>
                  <a:pt x="2579218" y="647333"/>
                </a:lnTo>
                <a:lnTo>
                  <a:pt x="2575502" y="647699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effectLst>
            <a:outerShdw blurRad="190500" dist="63500" dir="2700000" sx="94000" sy="94000" algn="tl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 anchor="ctr"/>
          <a:p>
            <a:r>
              <a:rPr lang="en-US" altLang="zh-CN" sz="800" b="1">
                <a:cs typeface="Arial" panose="020B0604020202020204" pitchFamily="34" charset="0"/>
              </a:rPr>
              <a:t> (After Human chat ends) </a:t>
            </a:r>
            <a:r>
              <a:rPr lang="en-US" altLang="zh-CN" sz="800" b="1">
                <a:solidFill>
                  <a:srgbClr val="3364FF"/>
                </a:solidFill>
                <a:cs typeface="Arial" panose="020B0604020202020204" pitchFamily="34" charset="0"/>
              </a:rPr>
              <a:t> NPS invitation</a:t>
            </a:r>
            <a:r>
              <a:rPr lang="en-US" altLang="zh-CN" sz="800" b="1">
                <a:cs typeface="Arial" panose="020B0604020202020204" pitchFamily="34" charset="0"/>
              </a:rPr>
              <a:t> script </a:t>
            </a:r>
            <a:r>
              <a:rPr lang="zh-CN" altLang="en-US" sz="800" b="1">
                <a:cs typeface="Arial" panose="020B0604020202020204" pitchFamily="34" charset="0"/>
              </a:rPr>
              <a:t>+ </a:t>
            </a:r>
            <a:r>
              <a:rPr lang="en-US" altLang="zh-CN" sz="800" b="1">
                <a:cs typeface="Arial" panose="020B0604020202020204" pitchFamily="34" charset="0"/>
              </a:rPr>
              <a:t>NPS button</a:t>
            </a:r>
            <a:endParaRPr lang="en-US" altLang="zh-CN" sz="800"/>
          </a:p>
        </p:txBody>
      </p:sp>
      <p:cxnSp>
        <p:nvCxnSpPr>
          <p:cNvPr id="144" name="Straight Arrow Connector 143"/>
          <p:cNvCxnSpPr/>
          <p:nvPr userDrawn="1"/>
        </p:nvCxnSpPr>
        <p:spPr>
          <a:xfrm>
            <a:off x="3278945" y="6410545"/>
            <a:ext cx="1" cy="137583"/>
          </a:xfrm>
          <a:prstGeom prst="straightConnector1">
            <a:avLst/>
          </a:prstGeom>
          <a:ln w="19050" cap="flat" cmpd="sng" algn="ctr">
            <a:solidFill>
              <a:schemeClr val="phClr">
                <a:shade val="95000"/>
                <a:satMod val="10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2" name="Picture 151" descr="post_object_image_1961019882"/>
          <p:cNvPicPr>
            <a:picLocks noChangeAspect="1"/>
          </p:cNvPicPr>
          <p:nvPr/>
        </p:nvPicPr>
        <p:blipFill>
          <a:blip r:embed="rId6"/>
          <a:srcRect b="49851"/>
          <a:stretch>
            <a:fillRect/>
          </a:stretch>
        </p:blipFill>
        <p:spPr>
          <a:xfrm>
            <a:off x="10162520" y="4191238"/>
            <a:ext cx="1782723" cy="1739703"/>
          </a:xfrm>
          <a:prstGeom prst="rect">
            <a:avLst/>
          </a:prstGeom>
        </p:spPr>
      </p:pic>
      <p:pic>
        <p:nvPicPr>
          <p:cNvPr id="154" name="Picture 153" descr="post_object_image_329997477"/>
          <p:cNvPicPr>
            <a:picLocks noChangeAspect="1"/>
          </p:cNvPicPr>
          <p:nvPr/>
        </p:nvPicPr>
        <p:blipFill>
          <a:blip r:embed="rId7"/>
          <a:srcRect t="59758"/>
          <a:stretch>
            <a:fillRect/>
          </a:stretch>
        </p:blipFill>
        <p:spPr>
          <a:xfrm>
            <a:off x="8286333" y="4191238"/>
            <a:ext cx="1827662" cy="1414840"/>
          </a:xfrm>
          <a:prstGeom prst="rect">
            <a:avLst/>
          </a:prstGeom>
        </p:spPr>
      </p:pic>
      <p:sp>
        <p:nvSpPr>
          <p:cNvPr id="155" name="Chevron 154"/>
          <p:cNvSpPr/>
          <p:nvPr userDrawn="1"/>
        </p:nvSpPr>
        <p:spPr>
          <a:xfrm>
            <a:off x="10114022" y="5299084"/>
            <a:ext cx="99564" cy="157994"/>
          </a:xfrm>
          <a:prstGeom prst="chevron">
            <a:avLst/>
          </a:prstGeom>
          <a:solidFill>
            <a:srgbClr val="F0F0F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56" name="Rounded Rectangular Callout 155"/>
          <p:cNvSpPr/>
          <p:nvPr userDrawn="1"/>
        </p:nvSpPr>
        <p:spPr>
          <a:xfrm>
            <a:off x="9818869" y="6132332"/>
            <a:ext cx="1481806" cy="415808"/>
          </a:xfrm>
          <a:prstGeom prst="wedgeRoundRectCallout">
            <a:avLst>
              <a:gd name="adj1" fmla="val -3543"/>
              <a:gd name="adj2" fmla="val -100413"/>
              <a:gd name="adj3" fmla="val 16667"/>
            </a:avLst>
          </a:prstGeom>
          <a:solidFill>
            <a:srgbClr val="FFE899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800">
                <a:solidFill>
                  <a:srgbClr val="000000"/>
                </a:solidFill>
              </a:rPr>
              <a:t>Appear after completing human sesssion rating</a:t>
            </a:r>
            <a:endParaRPr lang="en-US" altLang="zh-CN"/>
          </a:p>
        </p:txBody>
      </p:sp>
      <p:sp>
        <p:nvSpPr>
          <p:cNvPr id="77" name="Text Box 76"/>
          <p:cNvSpPr txBox="1"/>
          <p:nvPr/>
        </p:nvSpPr>
        <p:spPr>
          <a:xfrm>
            <a:off x="10722373" y="5881939"/>
            <a:ext cx="1515338" cy="28205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000">
                <a:solidFill>
                  <a:schemeClr val="accent6"/>
                </a:solidFill>
              </a:rPr>
              <a:t>→</a:t>
            </a:r>
            <a:r>
              <a:rPr lang="en-US" altLang="en-US" sz="100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lang="en-US" altLang="zh-CN" sz="1000">
                <a:solidFill>
                  <a:schemeClr val="accent6"/>
                </a:solidFill>
                <a:cs typeface="Arial" panose="020B0604020202020204" pitchFamily="34" charset="0"/>
              </a:rPr>
              <a:t>Jump to NPS survey</a:t>
            </a:r>
            <a:endParaRPr lang="en-US" altLang="en-US" sz="1000">
              <a:solidFill>
                <a:schemeClr val="accent6"/>
              </a:solidFill>
            </a:endParaRPr>
          </a:p>
        </p:txBody>
      </p:sp>
      <p:pic>
        <p:nvPicPr>
          <p:cNvPr id="133" name="Picture 132" descr="post_object_image_329997477"/>
          <p:cNvPicPr>
            <a:picLocks noChangeAspect="1"/>
          </p:cNvPicPr>
          <p:nvPr/>
        </p:nvPicPr>
        <p:blipFill>
          <a:blip r:embed="rId7"/>
          <a:srcRect b="30093"/>
          <a:stretch>
            <a:fillRect/>
          </a:stretch>
        </p:blipFill>
        <p:spPr>
          <a:xfrm>
            <a:off x="6493926" y="4191238"/>
            <a:ext cx="1856671" cy="24968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4584780" y="1098139"/>
            <a:ext cx="6899778" cy="189790"/>
          </a:xfrm>
          <a:prstGeom prst="rect">
            <a:avLst/>
          </a:prstGeom>
          <a:solidFill>
            <a:srgbClr val="FFC00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900" b="1">
                <a:solidFill>
                  <a:schemeClr val="bg1"/>
                </a:solidFill>
              </a:rPr>
              <a:t>After AI Chat Ends</a:t>
            </a:r>
            <a:endParaRPr lang="zh-CN" altLang="en-US" sz="900" b="1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4592730" y="3938016"/>
            <a:ext cx="6899778" cy="189790"/>
          </a:xfrm>
          <a:prstGeom prst="rect">
            <a:avLst/>
          </a:prstGeom>
          <a:solidFill>
            <a:srgbClr val="4BACC6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 sz="900" b="1">
                <a:solidFill>
                  <a:schemeClr val="bg1"/>
                </a:solidFill>
              </a:rPr>
              <a:t>T</a:t>
            </a:r>
            <a:r>
              <a:rPr lang="en-US" altLang="zh-CN" sz="900" b="1">
                <a:solidFill>
                  <a:schemeClr val="bg1"/>
                </a:solidFill>
              </a:rPr>
              <a:t>ran</a:t>
            </a:r>
            <a:r>
              <a:rPr lang="en-US" altLang="zh-CN" sz="900" b="1">
                <a:solidFill>
                  <a:schemeClr val="bg1"/>
                </a:solidFill>
                <a:cs typeface="Arial" panose="020B0604020202020204" pitchFamily="34" charset="0"/>
              </a:rPr>
              <a:t>sfer to Human Agent</a:t>
            </a:r>
            <a:endParaRPr lang="zh-CN" altLang="en-US"/>
          </a:p>
        </p:txBody>
      </p:sp>
      <p:sp>
        <p:nvSpPr>
          <p:cNvPr id="141" name="Chevron 140"/>
          <p:cNvSpPr/>
          <p:nvPr userDrawn="1"/>
        </p:nvSpPr>
        <p:spPr>
          <a:xfrm>
            <a:off x="6431365" y="5299054"/>
            <a:ext cx="99564" cy="157994"/>
          </a:xfrm>
          <a:prstGeom prst="chevron">
            <a:avLst/>
          </a:prstGeom>
          <a:solidFill>
            <a:srgbClr val="F0F0F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4612418" y="1673074"/>
            <a:ext cx="1661419" cy="195140"/>
          </a:xfrm>
          <a:prstGeom prst="rect">
            <a:avLst/>
          </a:prstGeom>
          <a:solidFill>
            <a:srgbClr val="F8FAFB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700" b="1">
                <a:solidFill>
                  <a:srgbClr val="000000"/>
                </a:solidFill>
              </a:rPr>
              <a:t>Step 1: Problem Resolution Check</a:t>
            </a:r>
            <a:endParaRPr lang="zh-CN" altLang="en-US" sz="700" b="1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6431368" y="1673049"/>
            <a:ext cx="1661419" cy="195140"/>
          </a:xfrm>
          <a:prstGeom prst="rect">
            <a:avLst/>
          </a:prstGeom>
          <a:solidFill>
            <a:srgbClr val="F8FAFB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700" b="1">
                <a:solidFill>
                  <a:srgbClr val="000000"/>
                </a:solidFill>
              </a:rPr>
              <a:t>Step 2: Satisfaction Rating</a:t>
            </a:r>
            <a:endParaRPr lang="en-US" altLang="zh-CN"/>
          </a:p>
        </p:txBody>
      </p:sp>
      <p:sp>
        <p:nvSpPr>
          <p:cNvPr id="7" name="矩形 6"/>
          <p:cNvSpPr/>
          <p:nvPr userDrawn="1"/>
        </p:nvSpPr>
        <p:spPr>
          <a:xfrm>
            <a:off x="8222875" y="1673049"/>
            <a:ext cx="1415617" cy="195140"/>
          </a:xfrm>
          <a:prstGeom prst="rect">
            <a:avLst/>
          </a:prstGeom>
          <a:solidFill>
            <a:srgbClr val="F8FAFB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700" b="1">
                <a:solidFill>
                  <a:srgbClr val="000000"/>
                </a:solidFill>
              </a:rPr>
              <a:t>Step 3: Factor Selection</a:t>
            </a:r>
            <a:endParaRPr lang="en-US" altLang="zh-CN"/>
          </a:p>
        </p:txBody>
      </p:sp>
      <p:sp>
        <p:nvSpPr>
          <p:cNvPr id="8" name="矩形 7"/>
          <p:cNvSpPr/>
          <p:nvPr userDrawn="1"/>
        </p:nvSpPr>
        <p:spPr>
          <a:xfrm>
            <a:off x="9786810" y="1673049"/>
            <a:ext cx="1661419" cy="195140"/>
          </a:xfrm>
          <a:prstGeom prst="rect">
            <a:avLst/>
          </a:prstGeom>
          <a:solidFill>
            <a:srgbClr val="F8FAFB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700" b="1">
                <a:solidFill>
                  <a:srgbClr val="000000"/>
                </a:solidFill>
              </a:rPr>
              <a:t>Step 4: Human Agent Transfer</a:t>
            </a:r>
            <a:endParaRPr lang="en-US" altLang="zh-CN"/>
          </a:p>
        </p:txBody>
      </p:sp>
      <p:sp>
        <p:nvSpPr>
          <p:cNvPr id="9" name="矩形 8"/>
          <p:cNvSpPr/>
          <p:nvPr userDrawn="1"/>
        </p:nvSpPr>
        <p:spPr>
          <a:xfrm>
            <a:off x="4677364" y="4477103"/>
            <a:ext cx="1661419" cy="195140"/>
          </a:xfrm>
          <a:prstGeom prst="rect">
            <a:avLst/>
          </a:prstGeom>
          <a:solidFill>
            <a:srgbClr val="F8FAFB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700" b="1">
                <a:solidFill>
                  <a:srgbClr val="000000"/>
                </a:solidFill>
              </a:rPr>
              <a:t>Step 1: Transfer Flow </a:t>
            </a:r>
            <a:r>
              <a:rPr lang="zh-CN" altLang="en-US" sz="700" b="1">
                <a:solidFill>
                  <a:srgbClr val="000000"/>
                </a:solidFill>
              </a:rPr>
              <a:t>- </a:t>
            </a:r>
            <a:r>
              <a:rPr lang="en-US" altLang="zh-CN" sz="700" b="1">
                <a:solidFill>
                  <a:srgbClr val="000000"/>
                </a:solidFill>
              </a:rPr>
              <a:t>Rating</a:t>
            </a:r>
            <a:endParaRPr lang="en-US" altLang="zh-CN"/>
          </a:p>
        </p:txBody>
      </p:sp>
      <p:sp>
        <p:nvSpPr>
          <p:cNvPr id="10" name="矩形 9"/>
          <p:cNvSpPr/>
          <p:nvPr userDrawn="1"/>
        </p:nvSpPr>
        <p:spPr>
          <a:xfrm>
            <a:off x="6530943" y="4477103"/>
            <a:ext cx="1661419" cy="195140"/>
          </a:xfrm>
          <a:prstGeom prst="rect">
            <a:avLst/>
          </a:prstGeom>
          <a:solidFill>
            <a:srgbClr val="F8FAFB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700" b="1">
                <a:solidFill>
                  <a:srgbClr val="000000"/>
                </a:solidFill>
              </a:rPr>
              <a:t>Step 2: Factor Selection</a:t>
            </a:r>
            <a:endParaRPr lang="en-US" altLang="zh-CN"/>
          </a:p>
        </p:txBody>
      </p:sp>
      <p:sp>
        <p:nvSpPr>
          <p:cNvPr id="11" name="矩形 10"/>
          <p:cNvSpPr/>
          <p:nvPr userDrawn="1"/>
        </p:nvSpPr>
        <p:spPr>
          <a:xfrm>
            <a:off x="10283838" y="4477103"/>
            <a:ext cx="1661419" cy="195140"/>
          </a:xfrm>
          <a:prstGeom prst="rect">
            <a:avLst/>
          </a:prstGeom>
          <a:solidFill>
            <a:srgbClr val="F8FAFB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en-US" altLang="zh-CN" sz="700" b="1">
                <a:solidFill>
                  <a:srgbClr val="000000"/>
                </a:solidFill>
              </a:rPr>
              <a:t>Step 3: NPS Invitation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273050"/>
            <a:ext cx="8667036" cy="352663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F2937"/>
                </a:solidFill>
              </a:rPr>
              <a:t>A</a:t>
            </a:r>
            <a:r>
              <a:rPr lang="en-US" altLang="zh-CN" sz="2400" dirty="0">
                <a:solidFill>
                  <a:srgbClr val="1F2937"/>
                </a:solidFill>
              </a:rPr>
              <a:t>ppendix</a:t>
            </a:r>
            <a:r>
              <a:rPr lang="zh-CN" altLang="en-US" sz="2400" dirty="0">
                <a:solidFill>
                  <a:srgbClr val="1F2937"/>
                </a:solidFill>
              </a:rPr>
              <a:t>——</a:t>
            </a:r>
            <a:r>
              <a:rPr lang="en-US" altLang="zh-CN"/>
              <a:t>AI Evaluation Systems Comparison Table</a:t>
            </a:r>
            <a:endParaRPr lang="en-US" altLang="zh-CN"/>
          </a:p>
        </p:txBody>
      </p:sp>
      <p:graphicFrame>
        <p:nvGraphicFramePr>
          <p:cNvPr id="3" name="Table 2"/>
          <p:cNvGraphicFramePr/>
          <p:nvPr/>
        </p:nvGraphicFramePr>
        <p:xfrm>
          <a:off x="335076" y="984663"/>
          <a:ext cx="11308080" cy="5189855"/>
        </p:xfrm>
        <a:graphic>
          <a:graphicData uri="http://schemas.openxmlformats.org/drawingml/2006/table">
            <a:tbl>
              <a:tblPr/>
              <a:tblGrid>
                <a:gridCol w="1413510"/>
                <a:gridCol w="1253490"/>
                <a:gridCol w="1506220"/>
                <a:gridCol w="1356995"/>
                <a:gridCol w="1468959"/>
                <a:gridCol w="1287576"/>
                <a:gridCol w="1297940"/>
                <a:gridCol w="1723390"/>
              </a:tblGrid>
              <a:tr h="2673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900" b="1"/>
                        <a:t>Platform</a:t>
                      </a:r>
                      <a:endParaRPr lang="zh-CN" altLang="en-US" sz="900" b="1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900" b="1"/>
                        <a:t>AI Evaluation</a:t>
                      </a:r>
                      <a:endParaRPr lang="zh-CN" altLang="en-US" sz="900" b="1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900" b="1"/>
                        <a:t>Trigger Method</a:t>
                      </a:r>
                      <a:endParaRPr lang="zh-CN" altLang="en-US" sz="900" b="1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900" b="1"/>
                        <a:t>Fill Method</a:t>
                      </a:r>
                      <a:endParaRPr lang="zh-CN" altLang="en-US" sz="900" b="1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900" b="1"/>
                        <a:t>Question Complexity</a:t>
                      </a:r>
                      <a:endParaRPr lang="zh-CN" altLang="en-US" sz="900" b="1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900" b="1"/>
                        <a:t>Evaluation Scale</a:t>
                      </a:r>
                      <a:endParaRPr lang="zh-CN" altLang="en-US" sz="900" b="1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900" b="1"/>
                        <a:t>Invitation Method</a:t>
                      </a:r>
                      <a:endParaRPr lang="zh-CN" altLang="en-US" sz="900" b="1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900" b="1"/>
                        <a:t>Evaluation Display Method</a:t>
                      </a:r>
                      <a:endParaRPr lang="zh-CN" altLang="en-US" sz="900" b="1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100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Trip.com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✅ Complete system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Regular + Real-time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Pop-up window</a:t>
                      </a:r>
                      <a:r>
                        <a:rPr lang="zh-CN" altLang="en-US" sz="800"/>
                        <a:t>+</a:t>
                      </a:r>
                      <a:r>
                        <a:rPr lang="en-US" altLang="zh-CN" sz="800"/>
                        <a:t>Redirected Page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Complex (CSAT3 questions, NPS14 questions)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CSAT+NPS</a:t>
                      </a:r>
                      <a:r>
                        <a:rPr lang="zh-CN" altLang="en-US" sz="800"/>
                        <a:t>+</a:t>
                      </a:r>
                      <a:r>
                        <a:rPr lang="en-US" altLang="zh-CN" sz="800"/>
                        <a:t>Thumb up/down</a:t>
                      </a:r>
                      <a:endParaRPr lang="en-US" altLang="zh-CN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800"/>
                        <a:t>😊😊😊😊😊 </a:t>
                      </a:r>
                      <a:r>
                        <a:rPr lang="en-US" altLang="zh-CN" sz="800"/>
                        <a:t>(Emotion score) + 0-10 numbers + </a:t>
                      </a:r>
                      <a:r>
                        <a:rPr lang="zh-CN" altLang="en-US" sz="800"/>
                        <a:t>👍👎 </a:t>
                      </a:r>
                      <a:r>
                        <a:rPr lang="en-US" altLang="zh-CN" sz="800"/>
                        <a:t>Follow-up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Agoda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✅ Yes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Conversation result + Entry time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Jump page+In-conversation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Simple (1 question)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Survey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Yes (basic)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Very Poor</a:t>
                      </a:r>
                      <a:r>
                        <a:rPr lang="zh-CN" altLang="en-US" sz="800"/>
                        <a:t>🔹 </a:t>
                      </a:r>
                      <a:r>
                        <a:rPr lang="en-US" altLang="zh-CN" sz="800"/>
                        <a:t>Excellent (5-point experience evaluation form)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Expedia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✅ Yes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Conversation result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Pop-up window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Simple (3 questions)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NPS</a:t>
                      </a:r>
                      <a:r>
                        <a:rPr lang="zh-CN" altLang="en-US" sz="800"/>
                        <a:t>+</a:t>
                      </a:r>
                      <a:r>
                        <a:rPr lang="en-US" altLang="zh-CN" sz="800"/>
                        <a:t>Thumb up/down</a:t>
                      </a:r>
                      <a:endParaRPr lang="en-US" altLang="zh-CN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Yes (brief introduction)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800"/>
                        <a:t>👍👎 </a:t>
                      </a:r>
                      <a:r>
                        <a:rPr lang="en-US" altLang="zh-CN" sz="800"/>
                        <a:t>Follow-up + 0-10 numbers (NPS)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73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Airbnb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❌ No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AI stage development display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43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United Airlines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✅ Yes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Entry time + Conversation result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Text message </a:t>
                      </a:r>
                      <a:r>
                        <a:rPr lang="zh-CN" altLang="en-US" sz="800"/>
                        <a:t>+</a:t>
                      </a:r>
                      <a:r>
                        <a:rPr lang="en-US" altLang="zh-CN" sz="800"/>
                        <a:t>In-conversation questions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Medium (3 questions)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CSAT+CES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Yes (polite greeting)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Unsatisfactory</a:t>
                      </a:r>
                      <a:r>
                        <a:rPr lang="zh-CN" altLang="en-US" sz="800"/>
                        <a:t>🔹</a:t>
                      </a:r>
                      <a:r>
                        <a:rPr lang="en-US" altLang="zh-CN" sz="800"/>
                        <a:t>Unsatisfactory (pure text 5-point scale) + Non-standard usage</a:t>
                      </a:r>
                      <a:r>
                        <a:rPr lang="zh-CN" altLang="en-US" sz="800"/>
                        <a:t>🔹</a:t>
                      </a:r>
                      <a:r>
                        <a:rPr lang="en-US" altLang="zh-CN" sz="800"/>
                        <a:t>Non-easy to use (pure text 5-point evaluation) + Open text input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British Airways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✅ Yes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Conversation result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Pop-up window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Medium (3-6 questions)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CSAT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Unsatisfactory</a:t>
                      </a:r>
                      <a:r>
                        <a:rPr lang="zh-CN" altLang="en-US" sz="800"/>
                        <a:t>🔹</a:t>
                      </a:r>
                      <a:r>
                        <a:rPr lang="en-US" altLang="zh-CN" sz="800"/>
                        <a:t>Unsatisfactory (pure number 5-point scale)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73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Lufthansa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❌ No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AI stage development display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9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Singapore Airlines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✅ Yes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Real-time + Page trigger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In-conversation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Simple (follow-up selection)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Thumb up/down</a:t>
                      </a:r>
                      <a:r>
                        <a:rPr lang="zh-CN" altLang="en-US" sz="800"/>
                        <a:t>+</a:t>
                      </a:r>
                      <a:r>
                        <a:rPr lang="en-US" altLang="zh-CN" sz="800"/>
                        <a:t>Follow-up evaluation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Yes (greeting/page entry)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800"/>
                        <a:t>👍👎 </a:t>
                      </a:r>
                      <a:r>
                        <a:rPr lang="en-US" altLang="zh-CN" sz="800"/>
                        <a:t>Follow-up + Left-right sliding 5-level selection (incorrect, unhelpful, don't understand, harmful/offensive, other)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65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Cathay Pacific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✅ Yes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Conversation result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Jump page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Medium (5 questions)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CSAT+NPS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Yes (basic)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⭐⭐⭐⭐⭐ (1-5 star rating) + 0-10 numbers (NPS) + Simplified/Traditional Chinese/Cancel (3-point emotion)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29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Hilton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❌ No AI evaluation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Page trigger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Jump page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en-US" altLang="zh-CN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80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Non-AI customer accommodation experience evaluation form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800"/>
                        <a:t>Amazon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800"/>
                        <a:t>⚠</a:t>
                      </a:r>
                      <a:r>
                        <a:rPr lang="en-US" altLang="zh-CN" sz="800"/>
                        <a:t>️ Basic functionality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Real-time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In-conversation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Extremely simple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>
                          <a:solidFill>
                            <a:schemeClr val="tx1"/>
                          </a:solidFill>
                        </a:rPr>
                        <a:t>Thumb up/down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800"/>
                        <a:t>None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800"/>
                        <a:t>👍👎 </a:t>
                      </a:r>
                      <a:r>
                        <a:rPr lang="en-US" altLang="zh-CN" sz="800"/>
                        <a:t>Follow-up (pure follow-up evaluation)</a:t>
                      </a:r>
                      <a:endParaRPr lang="zh-CN" altLang="en-US" sz="800"/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L>
                    <a:lnR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R>
                    <a:lnT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T>
                    <a:lnB w="12700" cmpd="sng">
                      <a:solidFill>
                        <a:schemeClr val="bg1">
                          <a:lumMod val="85000"/>
                          <a:alpha val="100000"/>
                        </a:scheme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2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3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4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5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6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7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8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9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10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11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ags/tag12.xml><?xml version="1.0" encoding="utf-8"?>
<p:tagLst xmlns:p="http://schemas.openxmlformats.org/presentationml/2006/main">
  <p:tag name="KSO_WM_DIAGRAM_VIRTUALLY_FRAME" val="{&quot;height&quot;:240,&quot;left&quot;:47.999921259842516,&quot;top&quot;:137.99992125984252,&quot;width&quot;:41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10738</Words>
  <Application>WPS Office WWO_wpscloud_20250724035916-2663639f4a</Application>
  <PresentationFormat>On-screen Show (4:3)</PresentationFormat>
  <Paragraphs>725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Liberation Sans</vt:lpstr>
      <vt:lpstr>Wingdings</vt:lpstr>
      <vt:lpstr>Kingsoft Confetti</vt:lpstr>
      <vt:lpstr>华文琥珀</vt:lpstr>
      <vt:lpstr>汉仪书宋二KW</vt:lpstr>
      <vt:lpstr>Noto Emoji</vt:lpstr>
      <vt:lpstr>DejaVu Sans</vt:lpstr>
      <vt:lpstr>Office Theme</vt:lpstr>
      <vt:lpstr>PowerPoint 演示文稿</vt:lpstr>
      <vt:lpstr>AI Chatbot Feedback Mechanism Research Overview</vt:lpstr>
      <vt:lpstr>Feedback Entry and Trigger Timing</vt:lpstr>
      <vt:lpstr>Feedback Script Quality</vt:lpstr>
      <vt:lpstr>Survey Content</vt:lpstr>
      <vt:lpstr>Survey Completion Methods</vt:lpstr>
      <vt:lpstr>Trip.com and Competitors Test Summary</vt:lpstr>
      <vt:lpstr>Trip.com Feedback Mechanism Analysis &amp; Optimization</vt:lpstr>
      <vt:lpstr>Trip.com Feedback Invitation Design</vt:lpstr>
      <vt:lpstr>Appendix——AI Evaluation Systems Comparison Table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Chatbot Feedback Mechanism Research Overview</dc:title>
  <dc:creator/>
  <cp:lastModifiedBy>Elena</cp:lastModifiedBy>
  <dcterms:created xsi:type="dcterms:W3CDTF">2025-08-04T02:58:26Z</dcterms:created>
  <dcterms:modified xsi:type="dcterms:W3CDTF">2025-08-04T02:58:26Z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2025-07-31T08:00:00Z</vt:filetime>
  </property>
  <property fmtid="{D5CDD505-2E9C-101B-9397-08002B2CF9AE}" pid="3" name="Producer">
    <vt:lpwstr>pypdf</vt:lpwstr>
  </property>
  <property fmtid="{D5CDD505-2E9C-101B-9397-08002B2CF9AE}" pid="4" name="LastSaved">
    <vt:filetime>2025-07-31T08:00:00Z</vt:filetime>
  </property>
  <property fmtid="{D5CDD505-2E9C-101B-9397-08002B2CF9AE}" pid="5" name="ICV">
    <vt:lpwstr>C0E47643902B44BC9A4F18814A49AAD1_12</vt:lpwstr>
  </property>
  <property fmtid="{D5CDD505-2E9C-101B-9397-08002B2CF9AE}" pid="6" name="KSOProductBuildVer">
    <vt:lpwstr>2052-12.9.0.22027</vt:lpwstr>
  </property>
</Properties>
</file>